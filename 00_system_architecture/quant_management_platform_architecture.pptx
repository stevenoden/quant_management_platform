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65" r:id="rId3"/>
    <p:sldId id="257" r:id="rId4"/>
    <p:sldId id="258" r:id="rId5"/>
    <p:sldId id="267" r:id="rId6"/>
    <p:sldId id="268" r:id="rId7"/>
    <p:sldId id="259" r:id="rId8"/>
    <p:sldId id="260" r:id="rId9"/>
    <p:sldId id="266" r:id="rId10"/>
    <p:sldId id="261" r:id="rId11"/>
    <p:sldId id="262" r:id="rId12"/>
    <p:sldId id="263" r:id="rId13"/>
    <p:sldId id="264"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6" d="100"/>
          <a:sy n="66" d="100"/>
        </p:scale>
        <p:origin x="422" y="2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866825-8C01-4766-8F79-C41ECFD9525D}" type="datetimeFigureOut">
              <a:rPr lang="en-US" smtClean="0"/>
              <a:t>1/20/2026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238C5B-EE31-4EFC-BE39-0EEC656BD8F3}" type="slidenum">
              <a:rPr lang="en-US" smtClean="0"/>
              <a:t>‹#›</a:t>
            </a:fld>
            <a:endParaRPr lang="en-US"/>
          </a:p>
        </p:txBody>
      </p:sp>
    </p:spTree>
    <p:extLst>
      <p:ext uri="{BB962C8B-B14F-4D97-AF65-F5344CB8AC3E}">
        <p14:creationId xmlns:p14="http://schemas.microsoft.com/office/powerpoint/2010/main" val="39602721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A238C5B-EE31-4EFC-BE39-0EEC656BD8F3}" type="slidenum">
              <a:rPr lang="en-US" smtClean="0"/>
              <a:t>3</a:t>
            </a:fld>
            <a:endParaRPr lang="en-US"/>
          </a:p>
        </p:txBody>
      </p:sp>
    </p:spTree>
    <p:extLst>
      <p:ext uri="{BB962C8B-B14F-4D97-AF65-F5344CB8AC3E}">
        <p14:creationId xmlns:p14="http://schemas.microsoft.com/office/powerpoint/2010/main" val="4115278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B0A5C-FA54-3FDD-47E2-6CC2460752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5294B50-5B51-7CB8-2D2B-A54FE8D95D7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05552D2-3AA6-8B39-4050-A7A711B1D339}"/>
              </a:ext>
            </a:extLst>
          </p:cNvPr>
          <p:cNvSpPr>
            <a:spLocks noGrp="1"/>
          </p:cNvSpPr>
          <p:nvPr>
            <p:ph type="dt" sz="half" idx="10"/>
          </p:nvPr>
        </p:nvSpPr>
        <p:spPr/>
        <p:txBody>
          <a:bodyPr/>
          <a:lstStyle/>
          <a:p>
            <a:fld id="{7CD6D201-3712-4708-B8BD-34638CB62F40}" type="datetimeFigureOut">
              <a:rPr lang="en-US" smtClean="0"/>
              <a:t>1/20/2026</a:t>
            </a:fld>
            <a:endParaRPr lang="en-US"/>
          </a:p>
        </p:txBody>
      </p:sp>
      <p:sp>
        <p:nvSpPr>
          <p:cNvPr id="5" name="Footer Placeholder 4">
            <a:extLst>
              <a:ext uri="{FF2B5EF4-FFF2-40B4-BE49-F238E27FC236}">
                <a16:creationId xmlns:a16="http://schemas.microsoft.com/office/drawing/2014/main" id="{9EEA4038-034E-76D1-D6DB-3AFAFA6BF7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7429F7-A967-D78C-8BEB-5F597AF02CCB}"/>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39975556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78A0B-C2E2-6A89-AF1E-17BD3E9987D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CF4FF6C-4443-EA1E-B18B-5B5436B221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96420E-3705-9532-A8D7-E4D04C3F56C8}"/>
              </a:ext>
            </a:extLst>
          </p:cNvPr>
          <p:cNvSpPr>
            <a:spLocks noGrp="1"/>
          </p:cNvSpPr>
          <p:nvPr>
            <p:ph type="dt" sz="half" idx="10"/>
          </p:nvPr>
        </p:nvSpPr>
        <p:spPr/>
        <p:txBody>
          <a:bodyPr/>
          <a:lstStyle/>
          <a:p>
            <a:fld id="{7CD6D201-3712-4708-B8BD-34638CB62F40}" type="datetimeFigureOut">
              <a:rPr lang="en-US" smtClean="0"/>
              <a:t>1/20/2026</a:t>
            </a:fld>
            <a:endParaRPr lang="en-US"/>
          </a:p>
        </p:txBody>
      </p:sp>
      <p:sp>
        <p:nvSpPr>
          <p:cNvPr id="5" name="Footer Placeholder 4">
            <a:extLst>
              <a:ext uri="{FF2B5EF4-FFF2-40B4-BE49-F238E27FC236}">
                <a16:creationId xmlns:a16="http://schemas.microsoft.com/office/drawing/2014/main" id="{5E2FD6E9-E100-BF39-E45D-9061A9D7CE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374246-6216-B55E-7844-7794DC63BD0E}"/>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3595029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1764C-E2E3-17FA-904C-47017181291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F5719C8-C3E6-DEA0-D85E-8CBEBE120E8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D53E65E-883B-984B-F93E-DCC150022381}"/>
              </a:ext>
            </a:extLst>
          </p:cNvPr>
          <p:cNvSpPr>
            <a:spLocks noGrp="1"/>
          </p:cNvSpPr>
          <p:nvPr>
            <p:ph type="dt" sz="half" idx="10"/>
          </p:nvPr>
        </p:nvSpPr>
        <p:spPr/>
        <p:txBody>
          <a:bodyPr/>
          <a:lstStyle/>
          <a:p>
            <a:fld id="{7CD6D201-3712-4708-B8BD-34638CB62F40}" type="datetimeFigureOut">
              <a:rPr lang="en-US" smtClean="0"/>
              <a:t>1/20/2026</a:t>
            </a:fld>
            <a:endParaRPr lang="en-US"/>
          </a:p>
        </p:txBody>
      </p:sp>
      <p:sp>
        <p:nvSpPr>
          <p:cNvPr id="5" name="Footer Placeholder 4">
            <a:extLst>
              <a:ext uri="{FF2B5EF4-FFF2-40B4-BE49-F238E27FC236}">
                <a16:creationId xmlns:a16="http://schemas.microsoft.com/office/drawing/2014/main" id="{CAA8E201-1144-7821-F5D5-D0DDA41B82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3DF362-DFA9-7713-9351-8A39276FE281}"/>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1697763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B7A8B-0689-843F-97CA-BF86482FBD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86D24C-BC4A-64AA-1C44-0BC4E6C9DA6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CC06332-62A9-027C-DF48-36AE1BF132E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55FFA47-3C54-686A-DB7C-81B2625CEADD}"/>
              </a:ext>
            </a:extLst>
          </p:cNvPr>
          <p:cNvSpPr>
            <a:spLocks noGrp="1"/>
          </p:cNvSpPr>
          <p:nvPr>
            <p:ph type="dt" sz="half" idx="10"/>
          </p:nvPr>
        </p:nvSpPr>
        <p:spPr/>
        <p:txBody>
          <a:bodyPr/>
          <a:lstStyle/>
          <a:p>
            <a:fld id="{7CD6D201-3712-4708-B8BD-34638CB62F40}" type="datetimeFigureOut">
              <a:rPr lang="en-US" smtClean="0"/>
              <a:t>1/20/2026</a:t>
            </a:fld>
            <a:endParaRPr lang="en-US"/>
          </a:p>
        </p:txBody>
      </p:sp>
      <p:sp>
        <p:nvSpPr>
          <p:cNvPr id="6" name="Footer Placeholder 5">
            <a:extLst>
              <a:ext uri="{FF2B5EF4-FFF2-40B4-BE49-F238E27FC236}">
                <a16:creationId xmlns:a16="http://schemas.microsoft.com/office/drawing/2014/main" id="{BB0318A1-3B71-0224-A78A-0126803C3B1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6DDA2F-0266-18BF-282F-3A2573C5AD02}"/>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2951525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51B609-DF7F-3928-9CC4-337FDF83AFD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69F2F61-6627-3940-5A58-229BCD4BFD8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24EAC0-4AC8-180E-47E2-C479BD019AA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FC13E5B-DF85-4D3B-F6B7-319949E63E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EED72E1-327D-3468-6819-E0C96AB98D1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ADF76EE-74A1-E574-BE87-C58D930FD9AC}"/>
              </a:ext>
            </a:extLst>
          </p:cNvPr>
          <p:cNvSpPr>
            <a:spLocks noGrp="1"/>
          </p:cNvSpPr>
          <p:nvPr>
            <p:ph type="dt" sz="half" idx="10"/>
          </p:nvPr>
        </p:nvSpPr>
        <p:spPr/>
        <p:txBody>
          <a:bodyPr/>
          <a:lstStyle/>
          <a:p>
            <a:fld id="{7CD6D201-3712-4708-B8BD-34638CB62F40}" type="datetimeFigureOut">
              <a:rPr lang="en-US" smtClean="0"/>
              <a:t>1/20/2026</a:t>
            </a:fld>
            <a:endParaRPr lang="en-US"/>
          </a:p>
        </p:txBody>
      </p:sp>
      <p:sp>
        <p:nvSpPr>
          <p:cNvPr id="8" name="Footer Placeholder 7">
            <a:extLst>
              <a:ext uri="{FF2B5EF4-FFF2-40B4-BE49-F238E27FC236}">
                <a16:creationId xmlns:a16="http://schemas.microsoft.com/office/drawing/2014/main" id="{92F5B697-7A3F-D73A-C50C-C5CF593BAA2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F488625-AC34-D6C6-FF55-5FA9528113E3}"/>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4706928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128EE-32DF-E240-5009-82A63BF938A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6A0A05C-F19A-CFFD-6ED5-210D90DBA5CD}"/>
              </a:ext>
            </a:extLst>
          </p:cNvPr>
          <p:cNvSpPr>
            <a:spLocks noGrp="1"/>
          </p:cNvSpPr>
          <p:nvPr>
            <p:ph type="dt" sz="half" idx="10"/>
          </p:nvPr>
        </p:nvSpPr>
        <p:spPr/>
        <p:txBody>
          <a:bodyPr/>
          <a:lstStyle/>
          <a:p>
            <a:fld id="{7CD6D201-3712-4708-B8BD-34638CB62F40}" type="datetimeFigureOut">
              <a:rPr lang="en-US" smtClean="0"/>
              <a:t>1/20/2026</a:t>
            </a:fld>
            <a:endParaRPr lang="en-US"/>
          </a:p>
        </p:txBody>
      </p:sp>
      <p:sp>
        <p:nvSpPr>
          <p:cNvPr id="4" name="Footer Placeholder 3">
            <a:extLst>
              <a:ext uri="{FF2B5EF4-FFF2-40B4-BE49-F238E27FC236}">
                <a16:creationId xmlns:a16="http://schemas.microsoft.com/office/drawing/2014/main" id="{62121177-4B45-559A-1B14-34BB234F457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B0A1C36-8134-B07C-2EE6-00210C96BFB8}"/>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39542149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95B55A6-F5BB-2AFD-FEE4-7E63CD623FBD}"/>
              </a:ext>
            </a:extLst>
          </p:cNvPr>
          <p:cNvSpPr>
            <a:spLocks noGrp="1"/>
          </p:cNvSpPr>
          <p:nvPr>
            <p:ph type="dt" sz="half" idx="10"/>
          </p:nvPr>
        </p:nvSpPr>
        <p:spPr/>
        <p:txBody>
          <a:bodyPr/>
          <a:lstStyle/>
          <a:p>
            <a:fld id="{7CD6D201-3712-4708-B8BD-34638CB62F40}" type="datetimeFigureOut">
              <a:rPr lang="en-US" smtClean="0"/>
              <a:t>1/20/2026</a:t>
            </a:fld>
            <a:endParaRPr lang="en-US"/>
          </a:p>
        </p:txBody>
      </p:sp>
      <p:sp>
        <p:nvSpPr>
          <p:cNvPr id="3" name="Footer Placeholder 2">
            <a:extLst>
              <a:ext uri="{FF2B5EF4-FFF2-40B4-BE49-F238E27FC236}">
                <a16:creationId xmlns:a16="http://schemas.microsoft.com/office/drawing/2014/main" id="{D9860BB7-4A94-9270-E603-AAB339938AB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662613-E124-C70E-0A17-34BAFC3FB56B}"/>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9762339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BB74D-5EFA-D841-CDF4-457C4C3100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C6BAA08-1B6A-2932-B083-B34045F5F9F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EB13BE-FC86-5CFC-5046-B3FCCDDF9A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88D3A3-07B6-3005-9A77-6E22CD566006}"/>
              </a:ext>
            </a:extLst>
          </p:cNvPr>
          <p:cNvSpPr>
            <a:spLocks noGrp="1"/>
          </p:cNvSpPr>
          <p:nvPr>
            <p:ph type="dt" sz="half" idx="10"/>
          </p:nvPr>
        </p:nvSpPr>
        <p:spPr/>
        <p:txBody>
          <a:bodyPr/>
          <a:lstStyle/>
          <a:p>
            <a:fld id="{7CD6D201-3712-4708-B8BD-34638CB62F40}" type="datetimeFigureOut">
              <a:rPr lang="en-US" smtClean="0"/>
              <a:t>1/20/2026</a:t>
            </a:fld>
            <a:endParaRPr lang="en-US"/>
          </a:p>
        </p:txBody>
      </p:sp>
      <p:sp>
        <p:nvSpPr>
          <p:cNvPr id="6" name="Footer Placeholder 5">
            <a:extLst>
              <a:ext uri="{FF2B5EF4-FFF2-40B4-BE49-F238E27FC236}">
                <a16:creationId xmlns:a16="http://schemas.microsoft.com/office/drawing/2014/main" id="{7DDCE213-4166-2BBE-8713-F092EBC594F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96E3EB-8AFC-F7BD-614F-1671EC0C6DD3}"/>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10428915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5848C-7C6B-A291-8357-024A0141130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E9331B-9BB1-2219-2CCB-3160B4113B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B8C4692-19F5-BBBD-0628-3754F04F9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F1627A-68EE-82BB-5C85-6FEDA9CC40FC}"/>
              </a:ext>
            </a:extLst>
          </p:cNvPr>
          <p:cNvSpPr>
            <a:spLocks noGrp="1"/>
          </p:cNvSpPr>
          <p:nvPr>
            <p:ph type="dt" sz="half" idx="10"/>
          </p:nvPr>
        </p:nvSpPr>
        <p:spPr/>
        <p:txBody>
          <a:bodyPr/>
          <a:lstStyle/>
          <a:p>
            <a:fld id="{7CD6D201-3712-4708-B8BD-34638CB62F40}" type="datetimeFigureOut">
              <a:rPr lang="en-US" smtClean="0"/>
              <a:t>1/20/2026</a:t>
            </a:fld>
            <a:endParaRPr lang="en-US"/>
          </a:p>
        </p:txBody>
      </p:sp>
      <p:sp>
        <p:nvSpPr>
          <p:cNvPr id="6" name="Footer Placeholder 5">
            <a:extLst>
              <a:ext uri="{FF2B5EF4-FFF2-40B4-BE49-F238E27FC236}">
                <a16:creationId xmlns:a16="http://schemas.microsoft.com/office/drawing/2014/main" id="{1E097695-EF40-B4A1-2C75-DA62269F860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ED23AB-AA85-10CD-C6DA-6FA0BB008E1A}"/>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21606991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66530-99B8-95D4-9F25-674B27073A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970C56-437D-898E-61E6-20C9545ADB8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4DFE5D8-22FF-D3E9-627F-71FD27591310}"/>
              </a:ext>
            </a:extLst>
          </p:cNvPr>
          <p:cNvSpPr>
            <a:spLocks noGrp="1"/>
          </p:cNvSpPr>
          <p:nvPr>
            <p:ph type="dt" sz="half" idx="10"/>
          </p:nvPr>
        </p:nvSpPr>
        <p:spPr/>
        <p:txBody>
          <a:bodyPr/>
          <a:lstStyle/>
          <a:p>
            <a:fld id="{7CD6D201-3712-4708-B8BD-34638CB62F40}" type="datetimeFigureOut">
              <a:rPr lang="en-US" smtClean="0"/>
              <a:t>1/20/2026</a:t>
            </a:fld>
            <a:endParaRPr lang="en-US"/>
          </a:p>
        </p:txBody>
      </p:sp>
      <p:sp>
        <p:nvSpPr>
          <p:cNvPr id="5" name="Footer Placeholder 4">
            <a:extLst>
              <a:ext uri="{FF2B5EF4-FFF2-40B4-BE49-F238E27FC236}">
                <a16:creationId xmlns:a16="http://schemas.microsoft.com/office/drawing/2014/main" id="{3F1D55D2-394B-E0F0-4EC4-4995F1EC86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BB80DC-629E-CBDD-E309-3BF2CDCA56A2}"/>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31326408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FB6DBAE-99C8-9CF4-73A6-8F24B9021F6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9D1D136-E534-8579-E105-FC330D9E217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347254-0BBE-E83F-CC7E-A0D61EF05BEE}"/>
              </a:ext>
            </a:extLst>
          </p:cNvPr>
          <p:cNvSpPr>
            <a:spLocks noGrp="1"/>
          </p:cNvSpPr>
          <p:nvPr>
            <p:ph type="dt" sz="half" idx="10"/>
          </p:nvPr>
        </p:nvSpPr>
        <p:spPr/>
        <p:txBody>
          <a:bodyPr/>
          <a:lstStyle/>
          <a:p>
            <a:fld id="{7CD6D201-3712-4708-B8BD-34638CB62F40}" type="datetimeFigureOut">
              <a:rPr lang="en-US" smtClean="0"/>
              <a:t>1/20/2026</a:t>
            </a:fld>
            <a:endParaRPr lang="en-US"/>
          </a:p>
        </p:txBody>
      </p:sp>
      <p:sp>
        <p:nvSpPr>
          <p:cNvPr id="5" name="Footer Placeholder 4">
            <a:extLst>
              <a:ext uri="{FF2B5EF4-FFF2-40B4-BE49-F238E27FC236}">
                <a16:creationId xmlns:a16="http://schemas.microsoft.com/office/drawing/2014/main" id="{80BCB7A7-EF46-B49A-DAD5-4F84DB55D9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A10AAD0-D15A-1872-C89D-7165223B1996}"/>
              </a:ext>
            </a:extLst>
          </p:cNvPr>
          <p:cNvSpPr>
            <a:spLocks noGrp="1"/>
          </p:cNvSpPr>
          <p:nvPr>
            <p:ph type="sldNum" sz="quarter" idx="12"/>
          </p:nvPr>
        </p:nvSpPr>
        <p:spPr/>
        <p:txBody>
          <a:bodyPr/>
          <a:lstStyle/>
          <a:p>
            <a:fld id="{439AB20E-5458-4739-9F32-9A78950F1698}" type="slidenum">
              <a:rPr lang="en-US" smtClean="0"/>
              <a:t>‹#›</a:t>
            </a:fld>
            <a:endParaRPr lang="en-US"/>
          </a:p>
        </p:txBody>
      </p:sp>
    </p:spTree>
    <p:extLst>
      <p:ext uri="{BB962C8B-B14F-4D97-AF65-F5344CB8AC3E}">
        <p14:creationId xmlns:p14="http://schemas.microsoft.com/office/powerpoint/2010/main" val="14866878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69CE1C3-ED46-CAAE-62A8-FBA00D4F4CB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D4C13C-BC92-3B2D-FDF0-18D237C85D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11036B-C881-EF7A-B8B1-496DDA93D9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CD6D201-3712-4708-B8BD-34638CB62F40}" type="datetimeFigureOut">
              <a:rPr lang="en-US" smtClean="0"/>
              <a:t>1/20/2026</a:t>
            </a:fld>
            <a:endParaRPr lang="en-US"/>
          </a:p>
        </p:txBody>
      </p:sp>
      <p:sp>
        <p:nvSpPr>
          <p:cNvPr id="5" name="Footer Placeholder 4">
            <a:extLst>
              <a:ext uri="{FF2B5EF4-FFF2-40B4-BE49-F238E27FC236}">
                <a16:creationId xmlns:a16="http://schemas.microsoft.com/office/drawing/2014/main" id="{83DD9D2F-A876-84A6-B42D-FD3E6DC1F4D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A3FDCA1-7F40-DBC9-DC0D-B2ADCC8AD3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39AB20E-5458-4739-9F32-9A78950F1698}" type="slidenum">
              <a:rPr lang="en-US" smtClean="0"/>
              <a:t>‹#›</a:t>
            </a:fld>
            <a:endParaRPr lang="en-US"/>
          </a:p>
        </p:txBody>
      </p:sp>
    </p:spTree>
    <p:extLst>
      <p:ext uri="{BB962C8B-B14F-4D97-AF65-F5344CB8AC3E}">
        <p14:creationId xmlns:p14="http://schemas.microsoft.com/office/powerpoint/2010/main" val="18436141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B24F38-E2F4-45D1-B4AB-F7E5E16735FB}"/>
              </a:ext>
            </a:extLst>
          </p:cNvPr>
          <p:cNvSpPr>
            <a:spLocks noGrp="1"/>
          </p:cNvSpPr>
          <p:nvPr>
            <p:ph type="ctrTitle"/>
          </p:nvPr>
        </p:nvSpPr>
        <p:spPr>
          <a:xfrm>
            <a:off x="914400" y="1122363"/>
            <a:ext cx="10363200" cy="2387600"/>
          </a:xfrm>
        </p:spPr>
        <p:txBody>
          <a:bodyPr>
            <a:normAutofit fontScale="90000"/>
          </a:bodyPr>
          <a:lstStyle/>
          <a:p>
            <a:r>
              <a:rPr lang="en-US" dirty="0"/>
              <a:t>Automated Portfolio Management: </a:t>
            </a:r>
            <a:br>
              <a:rPr lang="en-US" dirty="0"/>
            </a:br>
            <a:r>
              <a:rPr lang="en-US" dirty="0"/>
              <a:t>System Architecture</a:t>
            </a:r>
          </a:p>
        </p:txBody>
      </p:sp>
      <p:sp>
        <p:nvSpPr>
          <p:cNvPr id="3" name="Subtitle 2">
            <a:extLst>
              <a:ext uri="{FF2B5EF4-FFF2-40B4-BE49-F238E27FC236}">
                <a16:creationId xmlns:a16="http://schemas.microsoft.com/office/drawing/2014/main" id="{7F47AA0F-4C9F-9E2B-0DCB-7AA7DDA61F3B}"/>
              </a:ext>
            </a:extLst>
          </p:cNvPr>
          <p:cNvSpPr>
            <a:spLocks noGrp="1"/>
          </p:cNvSpPr>
          <p:nvPr>
            <p:ph type="subTitle" idx="1"/>
          </p:nvPr>
        </p:nvSpPr>
        <p:spPr/>
        <p:txBody>
          <a:bodyPr/>
          <a:lstStyle/>
          <a:p>
            <a:r>
              <a:rPr lang="en-US" dirty="0"/>
              <a:t>A full-stack quantitative trading infrastructure project</a:t>
            </a:r>
          </a:p>
          <a:p>
            <a:endParaRPr lang="en-US" dirty="0"/>
          </a:p>
          <a:p>
            <a:r>
              <a:rPr lang="en-US" dirty="0"/>
              <a:t>By: Steven Oden</a:t>
            </a:r>
          </a:p>
        </p:txBody>
      </p:sp>
    </p:spTree>
    <p:extLst>
      <p:ext uri="{BB962C8B-B14F-4D97-AF65-F5344CB8AC3E}">
        <p14:creationId xmlns:p14="http://schemas.microsoft.com/office/powerpoint/2010/main" val="9657749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CBE34-F12C-EC88-D661-54A2DFB86C19}"/>
              </a:ext>
            </a:extLst>
          </p:cNvPr>
          <p:cNvSpPr>
            <a:spLocks noGrp="1"/>
          </p:cNvSpPr>
          <p:nvPr>
            <p:ph type="title"/>
          </p:nvPr>
        </p:nvSpPr>
        <p:spPr/>
        <p:txBody>
          <a:bodyPr/>
          <a:lstStyle/>
          <a:p>
            <a:r>
              <a:rPr lang="en-US" dirty="0"/>
              <a:t>Project Overview</a:t>
            </a:r>
          </a:p>
        </p:txBody>
      </p:sp>
      <p:sp>
        <p:nvSpPr>
          <p:cNvPr id="3" name="Content Placeholder 2">
            <a:extLst>
              <a:ext uri="{FF2B5EF4-FFF2-40B4-BE49-F238E27FC236}">
                <a16:creationId xmlns:a16="http://schemas.microsoft.com/office/drawing/2014/main" id="{9CA661D8-A760-F221-AC12-084F46E6934D}"/>
              </a:ext>
            </a:extLst>
          </p:cNvPr>
          <p:cNvSpPr>
            <a:spLocks noGrp="1"/>
          </p:cNvSpPr>
          <p:nvPr>
            <p:ph idx="1"/>
          </p:nvPr>
        </p:nvSpPr>
        <p:spPr>
          <a:xfrm>
            <a:off x="378421" y="1592717"/>
            <a:ext cx="8294630" cy="4351338"/>
          </a:xfrm>
        </p:spPr>
        <p:txBody>
          <a:bodyPr>
            <a:normAutofit fontScale="92500" lnSpcReduction="20000"/>
          </a:bodyPr>
          <a:lstStyle/>
          <a:p>
            <a:r>
              <a:rPr lang="en-US" sz="2400" b="1" dirty="0"/>
              <a:t>Purpose: </a:t>
            </a:r>
          </a:p>
          <a:p>
            <a:pPr lvl="1"/>
            <a:r>
              <a:rPr lang="en-US" sz="2000" dirty="0"/>
              <a:t>A standalone modular, Python-based trading system that ingests market data, generates trading signals through tested strategies, manages a portfolio, enforces risk constraints and simulates trade execution</a:t>
            </a:r>
          </a:p>
          <a:p>
            <a:pPr lvl="1"/>
            <a:r>
              <a:rPr lang="en-US" sz="2000" dirty="0"/>
              <a:t>Designed to mirror the architecture used by quantitative hedge funds and trading firms</a:t>
            </a:r>
          </a:p>
          <a:p>
            <a:r>
              <a:rPr lang="en-US" sz="2400" b="1" dirty="0"/>
              <a:t>Goals:</a:t>
            </a:r>
          </a:p>
          <a:p>
            <a:pPr marL="742950" lvl="1" indent="-285750"/>
            <a:r>
              <a:rPr lang="en-US" sz="2000" dirty="0"/>
              <a:t>Demonstrate my ability to design and build distributed systems</a:t>
            </a:r>
          </a:p>
          <a:p>
            <a:pPr marL="742950" lvl="1" indent="-285750"/>
            <a:r>
              <a:rPr lang="en-US" sz="2000" dirty="0"/>
              <a:t>Show practical experience with REST APIs, microservices and data pipelines</a:t>
            </a:r>
          </a:p>
          <a:p>
            <a:pPr marL="742950" lvl="1" indent="-285750"/>
            <a:r>
              <a:rPr lang="en-US" sz="2000" dirty="0"/>
              <a:t>Build quantitative finance skills and experience: Strategy design, risk management, execution and portfolio management</a:t>
            </a:r>
          </a:p>
          <a:p>
            <a:pPr marL="742950" lvl="1" indent="-285750"/>
            <a:r>
              <a:rPr lang="en-US" sz="2000" dirty="0"/>
              <a:t>Provides a realistic example of production-style trading infrastructure</a:t>
            </a:r>
          </a:p>
          <a:p>
            <a:pPr marL="742950" lvl="1" indent="-285750"/>
            <a:r>
              <a:rPr lang="en-US" sz="2000" dirty="0"/>
              <a:t>Expand my knowledge and expertise in a subject that I am highly interested and passionate about, financial markets</a:t>
            </a:r>
          </a:p>
          <a:p>
            <a:pPr marL="457200" lvl="1" indent="0">
              <a:buNone/>
            </a:pPr>
            <a:endParaRPr lang="en-US" dirty="0"/>
          </a:p>
          <a:p>
            <a:pPr lvl="1"/>
            <a:endParaRPr lang="en-US" dirty="0"/>
          </a:p>
          <a:p>
            <a:pPr marL="0" indent="0">
              <a:buNone/>
            </a:pPr>
            <a:endParaRPr lang="en-US" b="1" dirty="0"/>
          </a:p>
        </p:txBody>
      </p:sp>
      <p:sp>
        <p:nvSpPr>
          <p:cNvPr id="4" name="Content Placeholder 2">
            <a:extLst>
              <a:ext uri="{FF2B5EF4-FFF2-40B4-BE49-F238E27FC236}">
                <a16:creationId xmlns:a16="http://schemas.microsoft.com/office/drawing/2014/main" id="{3F70290D-859B-7B16-D5D7-9FE105062EAF}"/>
              </a:ext>
            </a:extLst>
          </p:cNvPr>
          <p:cNvSpPr txBox="1">
            <a:spLocks/>
          </p:cNvSpPr>
          <p:nvPr/>
        </p:nvSpPr>
        <p:spPr>
          <a:xfrm>
            <a:off x="8673051" y="1592717"/>
            <a:ext cx="3431863" cy="32316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b="1" dirty="0"/>
              <a:t>Tech Stack</a:t>
            </a:r>
          </a:p>
          <a:p>
            <a:r>
              <a:rPr lang="en-US" sz="1900" dirty="0"/>
              <a:t>Python (Flask, </a:t>
            </a:r>
            <a:r>
              <a:rPr lang="en-US" sz="1900" dirty="0" err="1"/>
              <a:t>FastAPI</a:t>
            </a:r>
            <a:r>
              <a:rPr lang="en-US" sz="1900" dirty="0"/>
              <a:t>, pandas, NumPy)</a:t>
            </a:r>
          </a:p>
          <a:p>
            <a:r>
              <a:rPr lang="en-US" sz="1900" dirty="0"/>
              <a:t>REST APIs</a:t>
            </a:r>
          </a:p>
          <a:p>
            <a:r>
              <a:rPr lang="en-US" sz="1900" dirty="0"/>
              <a:t>Docker + </a:t>
            </a:r>
            <a:r>
              <a:rPr lang="en-US" sz="1900" dirty="0" err="1"/>
              <a:t>Kuberbetes</a:t>
            </a:r>
            <a:endParaRPr lang="en-US" sz="1900" dirty="0"/>
          </a:p>
          <a:p>
            <a:r>
              <a:rPr lang="en-US" sz="1900" dirty="0"/>
              <a:t>PostgreSQL/ SQLite</a:t>
            </a:r>
          </a:p>
          <a:p>
            <a:r>
              <a:rPr lang="en-US" sz="1900" dirty="0" err="1"/>
              <a:t>Streamlit</a:t>
            </a:r>
            <a:r>
              <a:rPr lang="en-US" sz="1900" dirty="0"/>
              <a:t>/Dash</a:t>
            </a:r>
          </a:p>
          <a:p>
            <a:r>
              <a:rPr lang="en-US" sz="1900" dirty="0" err="1"/>
              <a:t>AsynchIO</a:t>
            </a:r>
            <a:r>
              <a:rPr lang="en-US" sz="1900" dirty="0"/>
              <a:t> / scheduling</a:t>
            </a:r>
          </a:p>
        </p:txBody>
      </p:sp>
    </p:spTree>
    <p:extLst>
      <p:ext uri="{BB962C8B-B14F-4D97-AF65-F5344CB8AC3E}">
        <p14:creationId xmlns:p14="http://schemas.microsoft.com/office/powerpoint/2010/main" val="1175524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05725-5914-BDF6-A6AE-2972FD1A3E5A}"/>
              </a:ext>
            </a:extLst>
          </p:cNvPr>
          <p:cNvSpPr>
            <a:spLocks noGrp="1"/>
          </p:cNvSpPr>
          <p:nvPr>
            <p:ph type="title"/>
          </p:nvPr>
        </p:nvSpPr>
        <p:spPr/>
        <p:txBody>
          <a:bodyPr/>
          <a:lstStyle/>
          <a:p>
            <a:r>
              <a:rPr lang="en-US" dirty="0"/>
              <a:t>High Level Architecture: System Diagram</a:t>
            </a:r>
          </a:p>
        </p:txBody>
      </p:sp>
      <p:sp>
        <p:nvSpPr>
          <p:cNvPr id="4" name="Flowchart: Magnetic Disk 3">
            <a:extLst>
              <a:ext uri="{FF2B5EF4-FFF2-40B4-BE49-F238E27FC236}">
                <a16:creationId xmlns:a16="http://schemas.microsoft.com/office/drawing/2014/main" id="{238CD802-B7B7-43BA-31D6-742EC4533D5D}"/>
              </a:ext>
            </a:extLst>
          </p:cNvPr>
          <p:cNvSpPr/>
          <p:nvPr/>
        </p:nvSpPr>
        <p:spPr>
          <a:xfrm>
            <a:off x="1599528" y="5295447"/>
            <a:ext cx="881743" cy="1197428"/>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Market Data</a:t>
            </a:r>
          </a:p>
        </p:txBody>
      </p:sp>
      <p:sp>
        <p:nvSpPr>
          <p:cNvPr id="5" name="Flowchart: Process 4">
            <a:extLst>
              <a:ext uri="{FF2B5EF4-FFF2-40B4-BE49-F238E27FC236}">
                <a16:creationId xmlns:a16="http://schemas.microsoft.com/office/drawing/2014/main" id="{C0B16364-8C3D-5335-13FE-DCB2E185CE4B}"/>
              </a:ext>
            </a:extLst>
          </p:cNvPr>
          <p:cNvSpPr/>
          <p:nvPr/>
        </p:nvSpPr>
        <p:spPr>
          <a:xfrm>
            <a:off x="141515" y="2968266"/>
            <a:ext cx="1600200" cy="1325563"/>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Market Data (Yahoo Finance etc.)</a:t>
            </a:r>
          </a:p>
        </p:txBody>
      </p:sp>
      <p:sp>
        <p:nvSpPr>
          <p:cNvPr id="6" name="Flowchart: Alternate Process 5">
            <a:extLst>
              <a:ext uri="{FF2B5EF4-FFF2-40B4-BE49-F238E27FC236}">
                <a16:creationId xmlns:a16="http://schemas.microsoft.com/office/drawing/2014/main" id="{0F5B98E1-2F5E-4350-F09A-17760B90F777}"/>
              </a:ext>
            </a:extLst>
          </p:cNvPr>
          <p:cNvSpPr/>
          <p:nvPr/>
        </p:nvSpPr>
        <p:spPr>
          <a:xfrm>
            <a:off x="2209799" y="2972480"/>
            <a:ext cx="1600200" cy="1325563"/>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Service</a:t>
            </a:r>
          </a:p>
        </p:txBody>
      </p:sp>
      <p:sp>
        <p:nvSpPr>
          <p:cNvPr id="7" name="Flowchart: Alternate Process 6">
            <a:extLst>
              <a:ext uri="{FF2B5EF4-FFF2-40B4-BE49-F238E27FC236}">
                <a16:creationId xmlns:a16="http://schemas.microsoft.com/office/drawing/2014/main" id="{A5BD77E2-0672-7B7E-80F4-EE83187EAC5C}"/>
              </a:ext>
            </a:extLst>
          </p:cNvPr>
          <p:cNvSpPr/>
          <p:nvPr/>
        </p:nvSpPr>
        <p:spPr>
          <a:xfrm>
            <a:off x="4114792" y="2971799"/>
            <a:ext cx="1600200" cy="1325563"/>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Strategy Service(s)</a:t>
            </a:r>
          </a:p>
        </p:txBody>
      </p:sp>
      <p:sp>
        <p:nvSpPr>
          <p:cNvPr id="19" name="Flowchart: Alternate Process 18">
            <a:extLst>
              <a:ext uri="{FF2B5EF4-FFF2-40B4-BE49-F238E27FC236}">
                <a16:creationId xmlns:a16="http://schemas.microsoft.com/office/drawing/2014/main" id="{E7588B50-B68E-7018-DB8E-167D93E00015}"/>
              </a:ext>
            </a:extLst>
          </p:cNvPr>
          <p:cNvSpPr/>
          <p:nvPr/>
        </p:nvSpPr>
        <p:spPr>
          <a:xfrm>
            <a:off x="6019785" y="2971798"/>
            <a:ext cx="1600200" cy="1325563"/>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Portfolio Service</a:t>
            </a:r>
          </a:p>
        </p:txBody>
      </p:sp>
      <p:sp>
        <p:nvSpPr>
          <p:cNvPr id="31" name="Flowchart: Alternate Process 30">
            <a:extLst>
              <a:ext uri="{FF2B5EF4-FFF2-40B4-BE49-F238E27FC236}">
                <a16:creationId xmlns:a16="http://schemas.microsoft.com/office/drawing/2014/main" id="{2494AEBF-3AE2-2118-28C1-EBE8ADF46D53}"/>
              </a:ext>
            </a:extLst>
          </p:cNvPr>
          <p:cNvSpPr/>
          <p:nvPr/>
        </p:nvSpPr>
        <p:spPr>
          <a:xfrm>
            <a:off x="7924778" y="2971797"/>
            <a:ext cx="1600200" cy="1325563"/>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Risk Service</a:t>
            </a:r>
          </a:p>
        </p:txBody>
      </p:sp>
      <p:sp>
        <p:nvSpPr>
          <p:cNvPr id="59" name="Flowchart: Alternate Process 58">
            <a:extLst>
              <a:ext uri="{FF2B5EF4-FFF2-40B4-BE49-F238E27FC236}">
                <a16:creationId xmlns:a16="http://schemas.microsoft.com/office/drawing/2014/main" id="{BA5436EE-55A0-18E6-9285-5BA09889B595}"/>
              </a:ext>
            </a:extLst>
          </p:cNvPr>
          <p:cNvSpPr/>
          <p:nvPr/>
        </p:nvSpPr>
        <p:spPr>
          <a:xfrm>
            <a:off x="9829771" y="2971797"/>
            <a:ext cx="1600200" cy="1325563"/>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Execution Service</a:t>
            </a:r>
          </a:p>
        </p:txBody>
      </p:sp>
      <p:sp>
        <p:nvSpPr>
          <p:cNvPr id="60" name="TextBox 59">
            <a:extLst>
              <a:ext uri="{FF2B5EF4-FFF2-40B4-BE49-F238E27FC236}">
                <a16:creationId xmlns:a16="http://schemas.microsoft.com/office/drawing/2014/main" id="{4D8A12C8-CC4A-55F5-97F4-FA269EBC86DD}"/>
              </a:ext>
            </a:extLst>
          </p:cNvPr>
          <p:cNvSpPr txBox="1"/>
          <p:nvPr/>
        </p:nvSpPr>
        <p:spPr>
          <a:xfrm>
            <a:off x="2340428" y="2302673"/>
            <a:ext cx="1328057" cy="646331"/>
          </a:xfrm>
          <a:prstGeom prst="rect">
            <a:avLst/>
          </a:prstGeom>
          <a:noFill/>
        </p:spPr>
        <p:txBody>
          <a:bodyPr wrap="square" rtlCol="0">
            <a:spAutoFit/>
          </a:bodyPr>
          <a:lstStyle/>
          <a:p>
            <a:pPr algn="ctr"/>
            <a:r>
              <a:rPr lang="en-US" b="1" dirty="0"/>
              <a:t>Here are the prices</a:t>
            </a:r>
          </a:p>
        </p:txBody>
      </p:sp>
      <p:sp>
        <p:nvSpPr>
          <p:cNvPr id="61" name="TextBox 60">
            <a:extLst>
              <a:ext uri="{FF2B5EF4-FFF2-40B4-BE49-F238E27FC236}">
                <a16:creationId xmlns:a16="http://schemas.microsoft.com/office/drawing/2014/main" id="{C66A8E0C-B278-2CD1-8603-707E446A58F4}"/>
              </a:ext>
            </a:extLst>
          </p:cNvPr>
          <p:cNvSpPr txBox="1"/>
          <p:nvPr/>
        </p:nvSpPr>
        <p:spPr>
          <a:xfrm>
            <a:off x="4250863" y="2302673"/>
            <a:ext cx="1328057" cy="646331"/>
          </a:xfrm>
          <a:prstGeom prst="rect">
            <a:avLst/>
          </a:prstGeom>
          <a:noFill/>
        </p:spPr>
        <p:txBody>
          <a:bodyPr wrap="square" rtlCol="0">
            <a:spAutoFit/>
          </a:bodyPr>
          <a:lstStyle/>
          <a:p>
            <a:pPr algn="ctr"/>
            <a:r>
              <a:rPr lang="en-US" b="1" dirty="0"/>
              <a:t>Here are the signals</a:t>
            </a:r>
          </a:p>
        </p:txBody>
      </p:sp>
      <p:sp>
        <p:nvSpPr>
          <p:cNvPr id="62" name="TextBox 61">
            <a:extLst>
              <a:ext uri="{FF2B5EF4-FFF2-40B4-BE49-F238E27FC236}">
                <a16:creationId xmlns:a16="http://schemas.microsoft.com/office/drawing/2014/main" id="{AB877C50-26C7-6061-6EB7-29031AA28BFD}"/>
              </a:ext>
            </a:extLst>
          </p:cNvPr>
          <p:cNvSpPr txBox="1"/>
          <p:nvPr/>
        </p:nvSpPr>
        <p:spPr>
          <a:xfrm>
            <a:off x="6155856" y="2298596"/>
            <a:ext cx="1328057" cy="646331"/>
          </a:xfrm>
          <a:prstGeom prst="rect">
            <a:avLst/>
          </a:prstGeom>
          <a:noFill/>
        </p:spPr>
        <p:txBody>
          <a:bodyPr wrap="square" rtlCol="0">
            <a:spAutoFit/>
          </a:bodyPr>
          <a:lstStyle/>
          <a:p>
            <a:pPr algn="ctr"/>
            <a:r>
              <a:rPr lang="en-US" b="1" dirty="0"/>
              <a:t>Here are the orders</a:t>
            </a:r>
          </a:p>
        </p:txBody>
      </p:sp>
      <p:sp>
        <p:nvSpPr>
          <p:cNvPr id="63" name="TextBox 62">
            <a:extLst>
              <a:ext uri="{FF2B5EF4-FFF2-40B4-BE49-F238E27FC236}">
                <a16:creationId xmlns:a16="http://schemas.microsoft.com/office/drawing/2014/main" id="{F478D5AA-2AEC-71C7-DF06-F3594964566D}"/>
              </a:ext>
            </a:extLst>
          </p:cNvPr>
          <p:cNvSpPr txBox="1"/>
          <p:nvPr/>
        </p:nvSpPr>
        <p:spPr>
          <a:xfrm>
            <a:off x="8060849" y="1771468"/>
            <a:ext cx="1328057" cy="1200329"/>
          </a:xfrm>
          <a:prstGeom prst="rect">
            <a:avLst/>
          </a:prstGeom>
          <a:noFill/>
        </p:spPr>
        <p:txBody>
          <a:bodyPr wrap="square" rtlCol="0">
            <a:spAutoFit/>
          </a:bodyPr>
          <a:lstStyle/>
          <a:p>
            <a:pPr algn="ctr"/>
            <a:r>
              <a:rPr lang="en-US" b="1" dirty="0"/>
              <a:t>Here are the approved orders</a:t>
            </a:r>
          </a:p>
        </p:txBody>
      </p:sp>
      <p:sp>
        <p:nvSpPr>
          <p:cNvPr id="64" name="TextBox 63">
            <a:extLst>
              <a:ext uri="{FF2B5EF4-FFF2-40B4-BE49-F238E27FC236}">
                <a16:creationId xmlns:a16="http://schemas.microsoft.com/office/drawing/2014/main" id="{44B00D19-13D9-2F0C-29B6-3B567D1E3D1A}"/>
              </a:ext>
            </a:extLst>
          </p:cNvPr>
          <p:cNvSpPr txBox="1"/>
          <p:nvPr/>
        </p:nvSpPr>
        <p:spPr>
          <a:xfrm>
            <a:off x="9965842" y="2298595"/>
            <a:ext cx="1328057" cy="646331"/>
          </a:xfrm>
          <a:prstGeom prst="rect">
            <a:avLst/>
          </a:prstGeom>
          <a:noFill/>
        </p:spPr>
        <p:txBody>
          <a:bodyPr wrap="square" rtlCol="0">
            <a:spAutoFit/>
          </a:bodyPr>
          <a:lstStyle/>
          <a:p>
            <a:pPr algn="ctr"/>
            <a:r>
              <a:rPr lang="en-US" b="1" dirty="0"/>
              <a:t>Here are the fills</a:t>
            </a:r>
          </a:p>
        </p:txBody>
      </p:sp>
      <p:cxnSp>
        <p:nvCxnSpPr>
          <p:cNvPr id="66" name="Straight Arrow Connector 65">
            <a:extLst>
              <a:ext uri="{FF2B5EF4-FFF2-40B4-BE49-F238E27FC236}">
                <a16:creationId xmlns:a16="http://schemas.microsoft.com/office/drawing/2014/main" id="{D44CAD42-73B2-34F1-96AB-FD6E9A97998A}"/>
              </a:ext>
            </a:extLst>
          </p:cNvPr>
          <p:cNvCxnSpPr>
            <a:cxnSpLocks/>
            <a:stCxn id="5" idx="3"/>
            <a:endCxn id="6" idx="1"/>
          </p:cNvCxnSpPr>
          <p:nvPr/>
        </p:nvCxnSpPr>
        <p:spPr>
          <a:xfrm>
            <a:off x="1741715" y="3631048"/>
            <a:ext cx="468084" cy="42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8" name="Straight Arrow Connector 67">
            <a:extLst>
              <a:ext uri="{FF2B5EF4-FFF2-40B4-BE49-F238E27FC236}">
                <a16:creationId xmlns:a16="http://schemas.microsoft.com/office/drawing/2014/main" id="{A442627C-686C-1F0D-D8C2-34820427DA89}"/>
              </a:ext>
            </a:extLst>
          </p:cNvPr>
          <p:cNvCxnSpPr>
            <a:stCxn id="6" idx="3"/>
            <a:endCxn id="7" idx="1"/>
          </p:cNvCxnSpPr>
          <p:nvPr/>
        </p:nvCxnSpPr>
        <p:spPr>
          <a:xfrm flipV="1">
            <a:off x="3809999" y="3634581"/>
            <a:ext cx="304793" cy="6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14FCB2F8-0046-D851-AB30-4C3551D0840F}"/>
              </a:ext>
            </a:extLst>
          </p:cNvPr>
          <p:cNvCxnSpPr>
            <a:stCxn id="7" idx="3"/>
            <a:endCxn id="19" idx="1"/>
          </p:cNvCxnSpPr>
          <p:nvPr/>
        </p:nvCxnSpPr>
        <p:spPr>
          <a:xfrm flipV="1">
            <a:off x="5714992" y="3634580"/>
            <a:ext cx="304793"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9B1C73CE-69A8-43A7-8BF2-6DF7AEFA023B}"/>
              </a:ext>
            </a:extLst>
          </p:cNvPr>
          <p:cNvCxnSpPr>
            <a:stCxn id="19" idx="3"/>
            <a:endCxn id="31" idx="1"/>
          </p:cNvCxnSpPr>
          <p:nvPr/>
        </p:nvCxnSpPr>
        <p:spPr>
          <a:xfrm flipV="1">
            <a:off x="7619985" y="3634579"/>
            <a:ext cx="304793"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4" name="Straight Arrow Connector 73">
            <a:extLst>
              <a:ext uri="{FF2B5EF4-FFF2-40B4-BE49-F238E27FC236}">
                <a16:creationId xmlns:a16="http://schemas.microsoft.com/office/drawing/2014/main" id="{89D05BAD-D60E-9F51-37FF-1C7966EC8B4A}"/>
              </a:ext>
            </a:extLst>
          </p:cNvPr>
          <p:cNvCxnSpPr>
            <a:stCxn id="31" idx="3"/>
            <a:endCxn id="59" idx="1"/>
          </p:cNvCxnSpPr>
          <p:nvPr/>
        </p:nvCxnSpPr>
        <p:spPr>
          <a:xfrm>
            <a:off x="9524978" y="3634579"/>
            <a:ext cx="3047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2" name="Connector: Elbow 81">
            <a:extLst>
              <a:ext uri="{FF2B5EF4-FFF2-40B4-BE49-F238E27FC236}">
                <a16:creationId xmlns:a16="http://schemas.microsoft.com/office/drawing/2014/main" id="{687D7CAF-0BBE-F4D0-7E3B-F2CE47BD7465}"/>
              </a:ext>
            </a:extLst>
          </p:cNvPr>
          <p:cNvCxnSpPr>
            <a:cxnSpLocks/>
            <a:stCxn id="59" idx="2"/>
            <a:endCxn id="19" idx="2"/>
          </p:cNvCxnSpPr>
          <p:nvPr/>
        </p:nvCxnSpPr>
        <p:spPr>
          <a:xfrm rot="5400000">
            <a:off x="8724878" y="2392367"/>
            <a:ext cx="1" cy="3809986"/>
          </a:xfrm>
          <a:prstGeom prst="bentConnector3">
            <a:avLst>
              <a:gd name="adj1" fmla="val 2286010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Flowchart: Magnetic Disk 2">
            <a:extLst>
              <a:ext uri="{FF2B5EF4-FFF2-40B4-BE49-F238E27FC236}">
                <a16:creationId xmlns:a16="http://schemas.microsoft.com/office/drawing/2014/main" id="{FB9F28AB-D25B-1F70-CBE3-CDE2DF0A2F94}"/>
              </a:ext>
            </a:extLst>
          </p:cNvPr>
          <p:cNvSpPr/>
          <p:nvPr/>
        </p:nvSpPr>
        <p:spPr>
          <a:xfrm>
            <a:off x="2563584" y="5295447"/>
            <a:ext cx="881743" cy="1197428"/>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Asset Universe</a:t>
            </a:r>
          </a:p>
        </p:txBody>
      </p:sp>
      <p:sp>
        <p:nvSpPr>
          <p:cNvPr id="8" name="Flowchart: Magnetic Disk 7">
            <a:extLst>
              <a:ext uri="{FF2B5EF4-FFF2-40B4-BE49-F238E27FC236}">
                <a16:creationId xmlns:a16="http://schemas.microsoft.com/office/drawing/2014/main" id="{AA02077F-8522-E2FF-FEB0-CA8EED30A369}"/>
              </a:ext>
            </a:extLst>
          </p:cNvPr>
          <p:cNvSpPr/>
          <p:nvPr/>
        </p:nvSpPr>
        <p:spPr>
          <a:xfrm>
            <a:off x="4465886" y="5295447"/>
            <a:ext cx="881743" cy="1197428"/>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Strategy Specific Data</a:t>
            </a:r>
          </a:p>
        </p:txBody>
      </p:sp>
      <p:sp>
        <p:nvSpPr>
          <p:cNvPr id="9" name="Flowchart: Magnetic Disk 8">
            <a:extLst>
              <a:ext uri="{FF2B5EF4-FFF2-40B4-BE49-F238E27FC236}">
                <a16:creationId xmlns:a16="http://schemas.microsoft.com/office/drawing/2014/main" id="{A5268C0A-5895-6186-E026-2A6438180ED5}"/>
              </a:ext>
            </a:extLst>
          </p:cNvPr>
          <p:cNvSpPr/>
          <p:nvPr/>
        </p:nvSpPr>
        <p:spPr>
          <a:xfrm>
            <a:off x="6340946" y="5295447"/>
            <a:ext cx="881743" cy="1197428"/>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Portfolio DB</a:t>
            </a:r>
          </a:p>
        </p:txBody>
      </p:sp>
      <p:sp>
        <p:nvSpPr>
          <p:cNvPr id="10" name="Flowchart: Magnetic Disk 9">
            <a:extLst>
              <a:ext uri="{FF2B5EF4-FFF2-40B4-BE49-F238E27FC236}">
                <a16:creationId xmlns:a16="http://schemas.microsoft.com/office/drawing/2014/main" id="{75557E9A-A2E1-3FD9-5A35-BC5960E18D9B}"/>
              </a:ext>
            </a:extLst>
          </p:cNvPr>
          <p:cNvSpPr/>
          <p:nvPr/>
        </p:nvSpPr>
        <p:spPr>
          <a:xfrm>
            <a:off x="8284005" y="5295447"/>
            <a:ext cx="881743" cy="1197428"/>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Risk Specific Data</a:t>
            </a:r>
          </a:p>
        </p:txBody>
      </p:sp>
      <p:sp>
        <p:nvSpPr>
          <p:cNvPr id="11" name="Flowchart: Magnetic Disk 10">
            <a:extLst>
              <a:ext uri="{FF2B5EF4-FFF2-40B4-BE49-F238E27FC236}">
                <a16:creationId xmlns:a16="http://schemas.microsoft.com/office/drawing/2014/main" id="{9A3F3E1C-FFEA-7F41-6F31-B52AB35A4259}"/>
              </a:ext>
            </a:extLst>
          </p:cNvPr>
          <p:cNvSpPr/>
          <p:nvPr/>
        </p:nvSpPr>
        <p:spPr>
          <a:xfrm>
            <a:off x="9965842" y="5295447"/>
            <a:ext cx="881743" cy="1197428"/>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Trade History</a:t>
            </a:r>
          </a:p>
        </p:txBody>
      </p:sp>
      <p:sp>
        <p:nvSpPr>
          <p:cNvPr id="12" name="Flowchart: Magnetic Disk 11">
            <a:extLst>
              <a:ext uri="{FF2B5EF4-FFF2-40B4-BE49-F238E27FC236}">
                <a16:creationId xmlns:a16="http://schemas.microsoft.com/office/drawing/2014/main" id="{2704FB8D-0193-78BC-5E43-79A73D9754CB}"/>
              </a:ext>
            </a:extLst>
          </p:cNvPr>
          <p:cNvSpPr/>
          <p:nvPr/>
        </p:nvSpPr>
        <p:spPr>
          <a:xfrm>
            <a:off x="10912928" y="5295447"/>
            <a:ext cx="881743" cy="1197428"/>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System State</a:t>
            </a:r>
          </a:p>
        </p:txBody>
      </p:sp>
      <p:cxnSp>
        <p:nvCxnSpPr>
          <p:cNvPr id="14" name="Straight Arrow Connector 13">
            <a:extLst>
              <a:ext uri="{FF2B5EF4-FFF2-40B4-BE49-F238E27FC236}">
                <a16:creationId xmlns:a16="http://schemas.microsoft.com/office/drawing/2014/main" id="{C7D2DCF9-B3AB-A456-DD96-859DC9A9D426}"/>
              </a:ext>
            </a:extLst>
          </p:cNvPr>
          <p:cNvCxnSpPr>
            <a:cxnSpLocks/>
          </p:cNvCxnSpPr>
          <p:nvPr/>
        </p:nvCxnSpPr>
        <p:spPr>
          <a:xfrm>
            <a:off x="11288456" y="4291723"/>
            <a:ext cx="5443" cy="10037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29B37A91-DFF0-718D-9FC3-9060E20AD506}"/>
              </a:ext>
            </a:extLst>
          </p:cNvPr>
          <p:cNvCxnSpPr>
            <a:cxnSpLocks/>
            <a:endCxn id="11" idx="1"/>
          </p:cNvCxnSpPr>
          <p:nvPr/>
        </p:nvCxnSpPr>
        <p:spPr>
          <a:xfrm>
            <a:off x="10403467" y="4291723"/>
            <a:ext cx="3247" cy="10037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BA9E60F9-8C18-4DC6-0A93-577BD0BD71CB}"/>
              </a:ext>
            </a:extLst>
          </p:cNvPr>
          <p:cNvCxnSpPr>
            <a:cxnSpLocks/>
            <a:stCxn id="31" idx="2"/>
            <a:endCxn id="10" idx="1"/>
          </p:cNvCxnSpPr>
          <p:nvPr/>
        </p:nvCxnSpPr>
        <p:spPr>
          <a:xfrm flipH="1">
            <a:off x="8724877" y="4297360"/>
            <a:ext cx="1" cy="9980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700A19D5-7812-C9AD-7AA1-5AE6177514C4}"/>
              </a:ext>
            </a:extLst>
          </p:cNvPr>
          <p:cNvCxnSpPr>
            <a:cxnSpLocks/>
          </p:cNvCxnSpPr>
          <p:nvPr/>
        </p:nvCxnSpPr>
        <p:spPr>
          <a:xfrm>
            <a:off x="6664804" y="4158343"/>
            <a:ext cx="0" cy="11371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866EFDDA-F354-B1F3-8CC8-3B7E0878B794}"/>
              </a:ext>
            </a:extLst>
          </p:cNvPr>
          <p:cNvCxnSpPr>
            <a:cxnSpLocks/>
            <a:stCxn id="7" idx="2"/>
          </p:cNvCxnSpPr>
          <p:nvPr/>
        </p:nvCxnSpPr>
        <p:spPr>
          <a:xfrm flipH="1">
            <a:off x="4906757" y="4297362"/>
            <a:ext cx="8135" cy="9980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Connector: Elbow 29">
            <a:extLst>
              <a:ext uri="{FF2B5EF4-FFF2-40B4-BE49-F238E27FC236}">
                <a16:creationId xmlns:a16="http://schemas.microsoft.com/office/drawing/2014/main" id="{55327C8A-5A62-BF56-A14B-06A145AEAE81}"/>
              </a:ext>
            </a:extLst>
          </p:cNvPr>
          <p:cNvCxnSpPr>
            <a:cxnSpLocks/>
            <a:endCxn id="6" idx="2"/>
          </p:cNvCxnSpPr>
          <p:nvPr/>
        </p:nvCxnSpPr>
        <p:spPr>
          <a:xfrm rot="10800000" flipV="1">
            <a:off x="3009899" y="4297359"/>
            <a:ext cx="1684544" cy="684"/>
          </a:xfrm>
          <a:prstGeom prst="bentConnector4">
            <a:avLst>
              <a:gd name="adj1" fmla="val 26252"/>
              <a:gd name="adj2" fmla="val 3352105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F6913B19-0065-B9C4-020F-E94F52EEC1E9}"/>
              </a:ext>
            </a:extLst>
          </p:cNvPr>
          <p:cNvCxnSpPr>
            <a:cxnSpLocks/>
          </p:cNvCxnSpPr>
          <p:nvPr/>
        </p:nvCxnSpPr>
        <p:spPr>
          <a:xfrm flipH="1">
            <a:off x="2082388" y="4321519"/>
            <a:ext cx="212579" cy="9682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Connector: Elbow 37">
            <a:extLst>
              <a:ext uri="{FF2B5EF4-FFF2-40B4-BE49-F238E27FC236}">
                <a16:creationId xmlns:a16="http://schemas.microsoft.com/office/drawing/2014/main" id="{3BB11F8B-060F-5420-80B7-319EDAFCC0B4}"/>
              </a:ext>
            </a:extLst>
          </p:cNvPr>
          <p:cNvCxnSpPr>
            <a:cxnSpLocks/>
          </p:cNvCxnSpPr>
          <p:nvPr/>
        </p:nvCxnSpPr>
        <p:spPr>
          <a:xfrm rot="5400000" flipH="1">
            <a:off x="1870235" y="3259688"/>
            <a:ext cx="4214" cy="2068284"/>
          </a:xfrm>
          <a:prstGeom prst="bentConnector3">
            <a:avLst>
              <a:gd name="adj1" fmla="val -5424775"/>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a16="http://schemas.microsoft.com/office/drawing/2014/main" id="{75D397CF-66FD-A250-782F-B3FA4FD10CA7}"/>
              </a:ext>
            </a:extLst>
          </p:cNvPr>
          <p:cNvSpPr txBox="1"/>
          <p:nvPr/>
        </p:nvSpPr>
        <p:spPr>
          <a:xfrm>
            <a:off x="7390159" y="4517241"/>
            <a:ext cx="2613262" cy="276999"/>
          </a:xfrm>
          <a:prstGeom prst="rect">
            <a:avLst/>
          </a:prstGeom>
          <a:noFill/>
        </p:spPr>
        <p:txBody>
          <a:bodyPr wrap="square" rtlCol="0">
            <a:spAutoFit/>
          </a:bodyPr>
          <a:lstStyle/>
          <a:p>
            <a:pPr algn="ctr"/>
            <a:r>
              <a:rPr lang="en-US" sz="1200" b="1" dirty="0"/>
              <a:t>Update Portfolio With Trade Data</a:t>
            </a:r>
          </a:p>
        </p:txBody>
      </p:sp>
      <p:sp>
        <p:nvSpPr>
          <p:cNvPr id="46" name="TextBox 45">
            <a:extLst>
              <a:ext uri="{FF2B5EF4-FFF2-40B4-BE49-F238E27FC236}">
                <a16:creationId xmlns:a16="http://schemas.microsoft.com/office/drawing/2014/main" id="{846A9C87-BAF7-6C58-FDBB-76643FECE10B}"/>
              </a:ext>
            </a:extLst>
          </p:cNvPr>
          <p:cNvSpPr txBox="1"/>
          <p:nvPr/>
        </p:nvSpPr>
        <p:spPr>
          <a:xfrm>
            <a:off x="2602802" y="4482285"/>
            <a:ext cx="1629483" cy="830997"/>
          </a:xfrm>
          <a:prstGeom prst="rect">
            <a:avLst/>
          </a:prstGeom>
          <a:noFill/>
        </p:spPr>
        <p:txBody>
          <a:bodyPr wrap="square" rtlCol="0">
            <a:spAutoFit/>
          </a:bodyPr>
          <a:lstStyle/>
          <a:p>
            <a:pPr algn="ctr"/>
            <a:r>
              <a:rPr lang="en-US" sz="1200" b="1" dirty="0"/>
              <a:t>Strategy Tells Data Service New Symbols to include in Universe</a:t>
            </a:r>
          </a:p>
        </p:txBody>
      </p:sp>
      <p:sp>
        <p:nvSpPr>
          <p:cNvPr id="47" name="TextBox 46">
            <a:extLst>
              <a:ext uri="{FF2B5EF4-FFF2-40B4-BE49-F238E27FC236}">
                <a16:creationId xmlns:a16="http://schemas.microsoft.com/office/drawing/2014/main" id="{E471EF7F-FEBC-5BC0-A889-27CED8E6FB48}"/>
              </a:ext>
            </a:extLst>
          </p:cNvPr>
          <p:cNvSpPr txBox="1"/>
          <p:nvPr/>
        </p:nvSpPr>
        <p:spPr>
          <a:xfrm>
            <a:off x="274297" y="4517241"/>
            <a:ext cx="1684545" cy="646331"/>
          </a:xfrm>
          <a:prstGeom prst="rect">
            <a:avLst/>
          </a:prstGeom>
          <a:noFill/>
        </p:spPr>
        <p:txBody>
          <a:bodyPr wrap="square" rtlCol="0">
            <a:spAutoFit/>
          </a:bodyPr>
          <a:lstStyle/>
          <a:p>
            <a:pPr algn="ctr"/>
            <a:r>
              <a:rPr lang="en-US" sz="1200" b="1" dirty="0"/>
              <a:t>Universe Tell Fetcher which Symbols to pull data for</a:t>
            </a:r>
          </a:p>
        </p:txBody>
      </p:sp>
      <p:cxnSp>
        <p:nvCxnSpPr>
          <p:cNvPr id="48" name="Straight Arrow Connector 47">
            <a:extLst>
              <a:ext uri="{FF2B5EF4-FFF2-40B4-BE49-F238E27FC236}">
                <a16:creationId xmlns:a16="http://schemas.microsoft.com/office/drawing/2014/main" id="{3DC9F897-BFC0-A9EE-AAFD-BB0715D343DA}"/>
              </a:ext>
            </a:extLst>
          </p:cNvPr>
          <p:cNvCxnSpPr>
            <a:cxnSpLocks/>
          </p:cNvCxnSpPr>
          <p:nvPr/>
        </p:nvCxnSpPr>
        <p:spPr>
          <a:xfrm flipH="1">
            <a:off x="2735978" y="4306620"/>
            <a:ext cx="8135" cy="9980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9575CC41-C698-D441-E6FD-352DFBB1DDF6}"/>
              </a:ext>
            </a:extLst>
          </p:cNvPr>
          <p:cNvCxnSpPr>
            <a:cxnSpLocks/>
          </p:cNvCxnSpPr>
          <p:nvPr/>
        </p:nvCxnSpPr>
        <p:spPr>
          <a:xfrm>
            <a:off x="11429971" y="3426299"/>
            <a:ext cx="76202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43988A4E-3C03-04C7-C7A3-10BF3DD25BCA}"/>
              </a:ext>
            </a:extLst>
          </p:cNvPr>
          <p:cNvCxnSpPr>
            <a:cxnSpLocks/>
          </p:cNvCxnSpPr>
          <p:nvPr/>
        </p:nvCxnSpPr>
        <p:spPr>
          <a:xfrm flipH="1">
            <a:off x="11449216" y="3640900"/>
            <a:ext cx="69090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9" name="TextBox 68">
            <a:extLst>
              <a:ext uri="{FF2B5EF4-FFF2-40B4-BE49-F238E27FC236}">
                <a16:creationId xmlns:a16="http://schemas.microsoft.com/office/drawing/2014/main" id="{358BED4E-70EA-91ED-4F7C-F957EBC87095}"/>
              </a:ext>
            </a:extLst>
          </p:cNvPr>
          <p:cNvSpPr txBox="1"/>
          <p:nvPr/>
        </p:nvSpPr>
        <p:spPr>
          <a:xfrm>
            <a:off x="11287863" y="3094295"/>
            <a:ext cx="1046246" cy="276999"/>
          </a:xfrm>
          <a:prstGeom prst="rect">
            <a:avLst/>
          </a:prstGeom>
          <a:noFill/>
        </p:spPr>
        <p:txBody>
          <a:bodyPr wrap="square" rtlCol="0">
            <a:spAutoFit/>
          </a:bodyPr>
          <a:lstStyle/>
          <a:p>
            <a:pPr algn="ctr"/>
            <a:r>
              <a:rPr lang="en-US" sz="1200" b="1" dirty="0"/>
              <a:t>Trade Data</a:t>
            </a:r>
          </a:p>
        </p:txBody>
      </p:sp>
      <p:sp>
        <p:nvSpPr>
          <p:cNvPr id="71" name="TextBox 70">
            <a:extLst>
              <a:ext uri="{FF2B5EF4-FFF2-40B4-BE49-F238E27FC236}">
                <a16:creationId xmlns:a16="http://schemas.microsoft.com/office/drawing/2014/main" id="{B733FFBE-689C-A39D-F664-201AF40F8DCE}"/>
              </a:ext>
            </a:extLst>
          </p:cNvPr>
          <p:cNvSpPr txBox="1"/>
          <p:nvPr/>
        </p:nvSpPr>
        <p:spPr>
          <a:xfrm>
            <a:off x="11287863" y="3648344"/>
            <a:ext cx="1046246" cy="276999"/>
          </a:xfrm>
          <a:prstGeom prst="rect">
            <a:avLst/>
          </a:prstGeom>
          <a:noFill/>
        </p:spPr>
        <p:txBody>
          <a:bodyPr wrap="square" rtlCol="0">
            <a:spAutoFit/>
          </a:bodyPr>
          <a:lstStyle/>
          <a:p>
            <a:pPr algn="ctr"/>
            <a:r>
              <a:rPr lang="en-US" sz="1200" b="1" dirty="0"/>
              <a:t>Response</a:t>
            </a:r>
          </a:p>
        </p:txBody>
      </p:sp>
      <p:sp>
        <p:nvSpPr>
          <p:cNvPr id="73" name="TextBox 72">
            <a:extLst>
              <a:ext uri="{FF2B5EF4-FFF2-40B4-BE49-F238E27FC236}">
                <a16:creationId xmlns:a16="http://schemas.microsoft.com/office/drawing/2014/main" id="{6777B6CC-A76A-FAF8-4F50-E1CC8E4B5B67}"/>
              </a:ext>
            </a:extLst>
          </p:cNvPr>
          <p:cNvSpPr txBox="1"/>
          <p:nvPr/>
        </p:nvSpPr>
        <p:spPr>
          <a:xfrm>
            <a:off x="4237254" y="1763809"/>
            <a:ext cx="1328057" cy="461665"/>
          </a:xfrm>
          <a:prstGeom prst="rect">
            <a:avLst/>
          </a:prstGeom>
          <a:noFill/>
        </p:spPr>
        <p:txBody>
          <a:bodyPr wrap="square" rtlCol="0">
            <a:spAutoFit/>
          </a:bodyPr>
          <a:lstStyle/>
          <a:p>
            <a:pPr algn="ctr"/>
            <a:r>
              <a:rPr lang="en-US" sz="2400" b="1" dirty="0"/>
              <a:t>Brain</a:t>
            </a:r>
            <a:endParaRPr lang="en-US" b="1" dirty="0"/>
          </a:p>
        </p:txBody>
      </p:sp>
      <p:sp>
        <p:nvSpPr>
          <p:cNvPr id="75" name="Rectangle: Rounded Corners 74">
            <a:extLst>
              <a:ext uri="{FF2B5EF4-FFF2-40B4-BE49-F238E27FC236}">
                <a16:creationId xmlns:a16="http://schemas.microsoft.com/office/drawing/2014/main" id="{CFC72D17-0CE5-1E09-66BD-FCCDCB2FBA05}"/>
              </a:ext>
            </a:extLst>
          </p:cNvPr>
          <p:cNvSpPr/>
          <p:nvPr/>
        </p:nvSpPr>
        <p:spPr>
          <a:xfrm>
            <a:off x="4036403" y="2225474"/>
            <a:ext cx="1814652" cy="436700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2551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EF426B-171D-6065-125F-45E2C780E2BC}"/>
              </a:ext>
            </a:extLst>
          </p:cNvPr>
          <p:cNvSpPr>
            <a:spLocks noGrp="1"/>
          </p:cNvSpPr>
          <p:nvPr>
            <p:ph type="title"/>
          </p:nvPr>
        </p:nvSpPr>
        <p:spPr/>
        <p:txBody>
          <a:bodyPr/>
          <a:lstStyle/>
          <a:p>
            <a:r>
              <a:rPr lang="en-US" dirty="0"/>
              <a:t>High Level Architecture</a:t>
            </a:r>
          </a:p>
        </p:txBody>
      </p:sp>
      <p:sp>
        <p:nvSpPr>
          <p:cNvPr id="3" name="Content Placeholder 2">
            <a:extLst>
              <a:ext uri="{FF2B5EF4-FFF2-40B4-BE49-F238E27FC236}">
                <a16:creationId xmlns:a16="http://schemas.microsoft.com/office/drawing/2014/main" id="{C4418F4C-470F-D520-0148-C104067E2DA7}"/>
              </a:ext>
            </a:extLst>
          </p:cNvPr>
          <p:cNvSpPr>
            <a:spLocks noGrp="1"/>
          </p:cNvSpPr>
          <p:nvPr>
            <p:ph idx="1"/>
          </p:nvPr>
        </p:nvSpPr>
        <p:spPr/>
        <p:txBody>
          <a:bodyPr>
            <a:normAutofit fontScale="70000" lnSpcReduction="20000"/>
          </a:bodyPr>
          <a:lstStyle/>
          <a:p>
            <a:r>
              <a:rPr lang="en-US" b="1" dirty="0"/>
              <a:t>Data Service – </a:t>
            </a:r>
            <a:r>
              <a:rPr lang="en-US" dirty="0"/>
              <a:t>gets cleans stores and serves daily OHLCV market data, maintains symbol universe, single source of data for other services</a:t>
            </a:r>
          </a:p>
          <a:p>
            <a:r>
              <a:rPr lang="en-US" b="1" dirty="0" err="1"/>
              <a:t>MarketData</a:t>
            </a:r>
            <a:r>
              <a:rPr lang="en-US" b="1" dirty="0"/>
              <a:t> Service – </a:t>
            </a:r>
            <a:r>
              <a:rPr lang="en-US" dirty="0"/>
              <a:t>Streams (no storing) intraday market data for symbols in Data Service’s Intraday Watchlist</a:t>
            </a:r>
          </a:p>
          <a:p>
            <a:r>
              <a:rPr lang="en-US" b="1" dirty="0"/>
              <a:t>Strategy Service – </a:t>
            </a:r>
            <a:r>
              <a:rPr lang="en-US" dirty="0"/>
              <a:t>turns data into signals (BUY/SELL), identifies symbols to add to Data Service’s symbol universe for daily Market data or the Intraday watchlist for intraday price action -&gt; used for evaluating when sell orders are hit since not executing through broker</a:t>
            </a:r>
          </a:p>
          <a:p>
            <a:r>
              <a:rPr lang="en-US" b="1" dirty="0"/>
              <a:t>Portfolio Service – </a:t>
            </a:r>
            <a:r>
              <a:rPr lang="en-US" dirty="0"/>
              <a:t>tracks positions, </a:t>
            </a:r>
            <a:r>
              <a:rPr lang="en-US" dirty="0" err="1"/>
              <a:t>PnL</a:t>
            </a:r>
            <a:r>
              <a:rPr lang="en-US" dirty="0"/>
              <a:t>, and orders</a:t>
            </a:r>
          </a:p>
          <a:p>
            <a:r>
              <a:rPr lang="en-US" b="1" dirty="0"/>
              <a:t>Risk Service </a:t>
            </a:r>
            <a:r>
              <a:rPr lang="en-US" dirty="0"/>
              <a:t>– monitors risk and enforces limits – </a:t>
            </a:r>
            <a:r>
              <a:rPr lang="en-US" i="1" dirty="0"/>
              <a:t>coming soon</a:t>
            </a:r>
          </a:p>
          <a:p>
            <a:r>
              <a:rPr lang="en-US" b="1" dirty="0"/>
              <a:t>Execution Service</a:t>
            </a:r>
            <a:r>
              <a:rPr lang="en-US" dirty="0"/>
              <a:t> – turns orders into trades (simulated or live), executes trades and maintains trade history, currently pull live price data at time order received as simulated execution</a:t>
            </a:r>
          </a:p>
          <a:p>
            <a:r>
              <a:rPr lang="en-US" b="1" dirty="0"/>
              <a:t>Dashboard – </a:t>
            </a:r>
            <a:r>
              <a:rPr lang="en-US" dirty="0"/>
              <a:t>visualizes portfolio and strategy performance –</a:t>
            </a:r>
            <a:r>
              <a:rPr lang="en-US" i="1" dirty="0"/>
              <a:t>coming soon</a:t>
            </a:r>
            <a:endParaRPr lang="en-US" dirty="0"/>
          </a:p>
          <a:p>
            <a:r>
              <a:rPr lang="en-US" b="1" i="1" strike="sngStrike" dirty="0"/>
              <a:t>Correlation service –</a:t>
            </a:r>
            <a:r>
              <a:rPr lang="en-US" i="1" strike="sngStrike" dirty="0"/>
              <a:t> Manages how correlated positions in portfolio are – likely part of strategy</a:t>
            </a:r>
            <a:endParaRPr lang="en-US" b="1" i="1" strike="sngStrike" dirty="0"/>
          </a:p>
          <a:p>
            <a:endParaRPr lang="en-US" b="1" dirty="0"/>
          </a:p>
        </p:txBody>
      </p:sp>
    </p:spTree>
    <p:extLst>
      <p:ext uri="{BB962C8B-B14F-4D97-AF65-F5344CB8AC3E}">
        <p14:creationId xmlns:p14="http://schemas.microsoft.com/office/powerpoint/2010/main" val="35351260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E3D8D-B3DE-AF52-9D6F-1B45AF0A27C5}"/>
              </a:ext>
            </a:extLst>
          </p:cNvPr>
          <p:cNvSpPr>
            <a:spLocks noGrp="1"/>
          </p:cNvSpPr>
          <p:nvPr>
            <p:ph type="title"/>
          </p:nvPr>
        </p:nvSpPr>
        <p:spPr/>
        <p:txBody>
          <a:bodyPr/>
          <a:lstStyle/>
          <a:p>
            <a:r>
              <a:rPr lang="en-US" dirty="0"/>
              <a:t>Running</a:t>
            </a:r>
          </a:p>
        </p:txBody>
      </p:sp>
      <p:sp>
        <p:nvSpPr>
          <p:cNvPr id="3" name="Content Placeholder 2">
            <a:extLst>
              <a:ext uri="{FF2B5EF4-FFF2-40B4-BE49-F238E27FC236}">
                <a16:creationId xmlns:a16="http://schemas.microsoft.com/office/drawing/2014/main" id="{BF1FE2A1-A3A5-7146-6405-F2A099FBA181}"/>
              </a:ext>
            </a:extLst>
          </p:cNvPr>
          <p:cNvSpPr>
            <a:spLocks noGrp="1"/>
          </p:cNvSpPr>
          <p:nvPr>
            <p:ph idx="1"/>
          </p:nvPr>
        </p:nvSpPr>
        <p:spPr/>
        <p:txBody>
          <a:bodyPr>
            <a:normAutofit fontScale="55000" lnSpcReduction="20000"/>
          </a:bodyPr>
          <a:lstStyle/>
          <a:p>
            <a:r>
              <a:rPr lang="en-US" dirty="0"/>
              <a:t>To Run the services:</a:t>
            </a:r>
          </a:p>
          <a:p>
            <a:r>
              <a:rPr lang="en-US" dirty="0"/>
              <a:t>run .\run_all.bat</a:t>
            </a:r>
          </a:p>
          <a:p>
            <a:endParaRPr lang="en-US" dirty="0"/>
          </a:p>
          <a:p>
            <a:r>
              <a:rPr lang="en-US" dirty="0"/>
              <a:t>This will open four command prompts and spin up the Data Service, Portfolio Service, Execution Service and the </a:t>
            </a:r>
            <a:r>
              <a:rPr lang="en-US" dirty="0" err="1"/>
              <a:t>MarketData</a:t>
            </a:r>
            <a:r>
              <a:rPr lang="en-US" dirty="0"/>
              <a:t> Service.</a:t>
            </a:r>
          </a:p>
          <a:p>
            <a:endParaRPr lang="en-US" dirty="0"/>
          </a:p>
          <a:p>
            <a:r>
              <a:rPr lang="en-US" dirty="0"/>
              <a:t>To examine and </a:t>
            </a:r>
            <a:r>
              <a:rPr lang="en-US" dirty="0" err="1"/>
              <a:t>playaround</a:t>
            </a:r>
            <a:r>
              <a:rPr lang="en-US" dirty="0"/>
              <a:t> with the REST endpoints for each service go to:</a:t>
            </a:r>
          </a:p>
          <a:p>
            <a:r>
              <a:rPr lang="en-US" dirty="0"/>
              <a:t>http://localhost:8001/docs =&gt; Data Service</a:t>
            </a:r>
          </a:p>
          <a:p>
            <a:r>
              <a:rPr lang="en-US" dirty="0"/>
              <a:t>http://localhost:8002/docs =&gt; Portfolio Service</a:t>
            </a:r>
          </a:p>
          <a:p>
            <a:r>
              <a:rPr lang="en-US" dirty="0"/>
              <a:t>http://localhost:8003/docs =&gt; Execution Service</a:t>
            </a:r>
          </a:p>
          <a:p>
            <a:r>
              <a:rPr lang="en-US" dirty="0"/>
              <a:t>http://localhost:8004/docs =&gt; </a:t>
            </a:r>
            <a:r>
              <a:rPr lang="en-US" dirty="0" err="1"/>
              <a:t>MarketData</a:t>
            </a:r>
            <a:r>
              <a:rPr lang="en-US" dirty="0"/>
              <a:t> Service</a:t>
            </a:r>
          </a:p>
          <a:p>
            <a:r>
              <a:rPr lang="en-US" dirty="0"/>
              <a:t>http://localhost:8010/docs =&gt; </a:t>
            </a:r>
            <a:r>
              <a:rPr lang="en-US" dirty="0" err="1"/>
              <a:t>IPO_Strategy</a:t>
            </a:r>
            <a:r>
              <a:rPr lang="en-US" dirty="0"/>
              <a:t> Service</a:t>
            </a:r>
          </a:p>
          <a:p>
            <a:endParaRPr lang="en-US" dirty="0"/>
          </a:p>
          <a:p>
            <a:r>
              <a:rPr lang="en-US" dirty="0"/>
              <a:t>These services are built using </a:t>
            </a:r>
            <a:r>
              <a:rPr lang="en-US" dirty="0" err="1"/>
              <a:t>FastAPI</a:t>
            </a:r>
            <a:r>
              <a:rPr lang="en-US" dirty="0"/>
              <a:t>, at /docs you are able to try out the endpoints for yourself, read any documentation and examine the schemas associated with these routers. To try out an endpoint, click the drop down arrow on the desired route handler and click "try it out" in the top right hand corner. It will provide details on the input schema and output schema.</a:t>
            </a:r>
          </a:p>
        </p:txBody>
      </p:sp>
    </p:spTree>
    <p:extLst>
      <p:ext uri="{BB962C8B-B14F-4D97-AF65-F5344CB8AC3E}">
        <p14:creationId xmlns:p14="http://schemas.microsoft.com/office/powerpoint/2010/main" val="31623432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14417-B462-EB26-545D-F79EC1F311A4}"/>
              </a:ext>
            </a:extLst>
          </p:cNvPr>
          <p:cNvSpPr>
            <a:spLocks noGrp="1"/>
          </p:cNvSpPr>
          <p:nvPr>
            <p:ph type="title"/>
          </p:nvPr>
        </p:nvSpPr>
        <p:spPr/>
        <p:txBody>
          <a:bodyPr/>
          <a:lstStyle/>
          <a:p>
            <a:r>
              <a:rPr lang="en-US" dirty="0"/>
              <a:t>Example Data Service /docs</a:t>
            </a:r>
          </a:p>
        </p:txBody>
      </p:sp>
      <p:sp>
        <p:nvSpPr>
          <p:cNvPr id="3" name="Content Placeholder 2">
            <a:extLst>
              <a:ext uri="{FF2B5EF4-FFF2-40B4-BE49-F238E27FC236}">
                <a16:creationId xmlns:a16="http://schemas.microsoft.com/office/drawing/2014/main" id="{0BBB5A8B-4F6C-D932-CA46-64AA57C7FD73}"/>
              </a:ext>
            </a:extLst>
          </p:cNvPr>
          <p:cNvSpPr>
            <a:spLocks noGrp="1"/>
          </p:cNvSpPr>
          <p:nvPr>
            <p:ph idx="1"/>
          </p:nvPr>
        </p:nvSpPr>
        <p:spPr>
          <a:xfrm>
            <a:off x="838200" y="1690688"/>
            <a:ext cx="4196786" cy="4351338"/>
          </a:xfrm>
        </p:spPr>
        <p:txBody>
          <a:bodyPr/>
          <a:lstStyle/>
          <a:p>
            <a:r>
              <a:rPr lang="en-US" sz="2000" dirty="0"/>
              <a:t>http//:localhost:8001/docs</a:t>
            </a:r>
          </a:p>
          <a:p>
            <a:r>
              <a:rPr lang="en-US" sz="2000" dirty="0"/>
              <a:t>Here we will try getting the latest price for AAPL</a:t>
            </a:r>
          </a:p>
          <a:p>
            <a:r>
              <a:rPr lang="en-US" sz="2000" dirty="0"/>
              <a:t>Enter AAPL as a string and it will return the current price and the timestamp for </a:t>
            </a:r>
            <a:r>
              <a:rPr lang="en-US" sz="2000"/>
              <a:t>this executio</a:t>
            </a:r>
            <a:r>
              <a:rPr lang="en-US" sz="2000" dirty="0"/>
              <a:t>n</a:t>
            </a:r>
          </a:p>
        </p:txBody>
      </p:sp>
      <p:pic>
        <p:nvPicPr>
          <p:cNvPr id="5" name="Picture 4">
            <a:extLst>
              <a:ext uri="{FF2B5EF4-FFF2-40B4-BE49-F238E27FC236}">
                <a16:creationId xmlns:a16="http://schemas.microsoft.com/office/drawing/2014/main" id="{63FE2DBE-90EB-0C45-73D9-D7CA900B7AD0}"/>
              </a:ext>
            </a:extLst>
          </p:cNvPr>
          <p:cNvPicPr>
            <a:picLocks noChangeAspect="1"/>
          </p:cNvPicPr>
          <p:nvPr/>
        </p:nvPicPr>
        <p:blipFill>
          <a:blip r:embed="rId2"/>
          <a:stretch>
            <a:fillRect/>
          </a:stretch>
        </p:blipFill>
        <p:spPr>
          <a:xfrm>
            <a:off x="5241958" y="1179294"/>
            <a:ext cx="6950042" cy="1470787"/>
          </a:xfrm>
          <a:prstGeom prst="rect">
            <a:avLst/>
          </a:prstGeom>
        </p:spPr>
      </p:pic>
      <p:pic>
        <p:nvPicPr>
          <p:cNvPr id="7" name="Picture 6">
            <a:extLst>
              <a:ext uri="{FF2B5EF4-FFF2-40B4-BE49-F238E27FC236}">
                <a16:creationId xmlns:a16="http://schemas.microsoft.com/office/drawing/2014/main" id="{87223BDF-F83C-062B-51A6-01AD28C702D6}"/>
              </a:ext>
            </a:extLst>
          </p:cNvPr>
          <p:cNvPicPr>
            <a:picLocks noChangeAspect="1"/>
          </p:cNvPicPr>
          <p:nvPr/>
        </p:nvPicPr>
        <p:blipFill>
          <a:blip r:embed="rId3"/>
          <a:stretch>
            <a:fillRect/>
          </a:stretch>
        </p:blipFill>
        <p:spPr>
          <a:xfrm>
            <a:off x="5424854" y="2826107"/>
            <a:ext cx="6767146" cy="3215919"/>
          </a:xfrm>
          <a:prstGeom prst="rect">
            <a:avLst/>
          </a:prstGeom>
        </p:spPr>
      </p:pic>
      <p:pic>
        <p:nvPicPr>
          <p:cNvPr id="9" name="Picture 8">
            <a:extLst>
              <a:ext uri="{FF2B5EF4-FFF2-40B4-BE49-F238E27FC236}">
                <a16:creationId xmlns:a16="http://schemas.microsoft.com/office/drawing/2014/main" id="{5406370F-12E0-3A9D-7097-04E76CC48FE0}"/>
              </a:ext>
            </a:extLst>
          </p:cNvPr>
          <p:cNvPicPr>
            <a:picLocks noChangeAspect="1"/>
          </p:cNvPicPr>
          <p:nvPr/>
        </p:nvPicPr>
        <p:blipFill>
          <a:blip r:embed="rId4"/>
          <a:stretch>
            <a:fillRect/>
          </a:stretch>
        </p:blipFill>
        <p:spPr>
          <a:xfrm>
            <a:off x="0" y="5059513"/>
            <a:ext cx="6454699" cy="1600339"/>
          </a:xfrm>
          <a:prstGeom prst="rect">
            <a:avLst/>
          </a:prstGeom>
        </p:spPr>
      </p:pic>
    </p:spTree>
    <p:extLst>
      <p:ext uri="{BB962C8B-B14F-4D97-AF65-F5344CB8AC3E}">
        <p14:creationId xmlns:p14="http://schemas.microsoft.com/office/powerpoint/2010/main" val="17007409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66B3A-B224-01CD-EAAC-C99D90E8B1D9}"/>
              </a:ext>
            </a:extLst>
          </p:cNvPr>
          <p:cNvSpPr>
            <a:spLocks noGrp="1"/>
          </p:cNvSpPr>
          <p:nvPr>
            <p:ph type="title"/>
          </p:nvPr>
        </p:nvSpPr>
        <p:spPr/>
        <p:txBody>
          <a:bodyPr/>
          <a:lstStyle/>
          <a:p>
            <a:r>
              <a:rPr lang="en-US" dirty="0"/>
              <a:t>Data Service</a:t>
            </a:r>
          </a:p>
        </p:txBody>
      </p:sp>
      <p:sp>
        <p:nvSpPr>
          <p:cNvPr id="3" name="Content Placeholder 2">
            <a:extLst>
              <a:ext uri="{FF2B5EF4-FFF2-40B4-BE49-F238E27FC236}">
                <a16:creationId xmlns:a16="http://schemas.microsoft.com/office/drawing/2014/main" id="{D62343FD-2382-76DD-86D6-19574C03C14C}"/>
              </a:ext>
            </a:extLst>
          </p:cNvPr>
          <p:cNvSpPr>
            <a:spLocks noGrp="1"/>
          </p:cNvSpPr>
          <p:nvPr>
            <p:ph idx="1"/>
          </p:nvPr>
        </p:nvSpPr>
        <p:spPr/>
        <p:txBody>
          <a:bodyPr>
            <a:normAutofit/>
          </a:bodyPr>
          <a:lstStyle/>
          <a:p>
            <a:r>
              <a:rPr lang="en-US" dirty="0"/>
              <a:t>Responsibilities:</a:t>
            </a:r>
          </a:p>
          <a:p>
            <a:pPr lvl="1"/>
            <a:r>
              <a:rPr lang="en-US" dirty="0"/>
              <a:t>Maintains Symbol Universe Table – Symbols we want to collect OHLCV market data on daily</a:t>
            </a:r>
          </a:p>
          <a:p>
            <a:pPr lvl="1"/>
            <a:r>
              <a:rPr lang="en-US" dirty="0"/>
              <a:t>Maintains </a:t>
            </a:r>
            <a:r>
              <a:rPr lang="en-US" dirty="0" err="1"/>
              <a:t>IntraDay</a:t>
            </a:r>
            <a:r>
              <a:rPr lang="en-US" dirty="0"/>
              <a:t> Watchlist Table – Symbols that one or more Strategy service requires intraday data on for determining stop loss / take profit fills</a:t>
            </a:r>
          </a:p>
          <a:p>
            <a:pPr lvl="1"/>
            <a:r>
              <a:rPr lang="en-US" dirty="0"/>
              <a:t>Fetches and stores latest prices</a:t>
            </a:r>
          </a:p>
          <a:p>
            <a:r>
              <a:rPr lang="en-US" dirty="0"/>
              <a:t>Why it matters: Everything downstream depends on clean, consistent data. All of the data fetching, cleaning and serving is centralized to one place</a:t>
            </a:r>
          </a:p>
          <a:p>
            <a:endParaRPr lang="en-US" dirty="0"/>
          </a:p>
        </p:txBody>
      </p:sp>
    </p:spTree>
    <p:extLst>
      <p:ext uri="{BB962C8B-B14F-4D97-AF65-F5344CB8AC3E}">
        <p14:creationId xmlns:p14="http://schemas.microsoft.com/office/powerpoint/2010/main" val="2529102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EF1CF-F981-8377-9EEC-719FFF735214}"/>
              </a:ext>
            </a:extLst>
          </p:cNvPr>
          <p:cNvSpPr>
            <a:spLocks noGrp="1"/>
          </p:cNvSpPr>
          <p:nvPr>
            <p:ph type="title"/>
          </p:nvPr>
        </p:nvSpPr>
        <p:spPr/>
        <p:txBody>
          <a:bodyPr/>
          <a:lstStyle/>
          <a:p>
            <a:r>
              <a:rPr lang="en-US" dirty="0"/>
              <a:t>Strategy Service</a:t>
            </a:r>
          </a:p>
        </p:txBody>
      </p:sp>
      <p:sp>
        <p:nvSpPr>
          <p:cNvPr id="3" name="Content Placeholder 2">
            <a:extLst>
              <a:ext uri="{FF2B5EF4-FFF2-40B4-BE49-F238E27FC236}">
                <a16:creationId xmlns:a16="http://schemas.microsoft.com/office/drawing/2014/main" id="{BA254B4C-2765-0832-B968-B371B3A6B664}"/>
              </a:ext>
            </a:extLst>
          </p:cNvPr>
          <p:cNvSpPr>
            <a:spLocks noGrp="1"/>
          </p:cNvSpPr>
          <p:nvPr>
            <p:ph idx="1"/>
          </p:nvPr>
        </p:nvSpPr>
        <p:spPr/>
        <p:txBody>
          <a:bodyPr>
            <a:normAutofit/>
          </a:bodyPr>
          <a:lstStyle/>
          <a:p>
            <a:r>
              <a:rPr lang="en-US" dirty="0"/>
              <a:t>Responsibilities:</a:t>
            </a:r>
          </a:p>
          <a:p>
            <a:pPr lvl="1"/>
            <a:r>
              <a:rPr lang="en-US" dirty="0"/>
              <a:t>Brains of the platform</a:t>
            </a:r>
          </a:p>
          <a:p>
            <a:pPr lvl="1"/>
            <a:r>
              <a:rPr lang="en-US" dirty="0"/>
              <a:t>Each strategy will be </a:t>
            </a:r>
            <a:r>
              <a:rPr lang="en-US" dirty="0" err="1"/>
              <a:t>uinique</a:t>
            </a:r>
            <a:r>
              <a:rPr lang="en-US" dirty="0"/>
              <a:t>, but the general responsibility is to determine which symbols we want to evaluate, determine when to generate a buy order based on a certain rule set and what to set the take profit and stop loss sell orders at</a:t>
            </a:r>
          </a:p>
          <a:p>
            <a:pPr lvl="1"/>
            <a:r>
              <a:rPr lang="en-US" dirty="0"/>
              <a:t>The Strategy service will also evaluate the price action for symbols it has open positions on for when the stop loss or take profit prices are hit.</a:t>
            </a:r>
          </a:p>
          <a:p>
            <a:pPr lvl="1"/>
            <a:r>
              <a:rPr lang="en-US" dirty="0"/>
              <a:t>Details on specific “IPO Strategy” on following slide</a:t>
            </a:r>
          </a:p>
        </p:txBody>
      </p:sp>
    </p:spTree>
    <p:extLst>
      <p:ext uri="{BB962C8B-B14F-4D97-AF65-F5344CB8AC3E}">
        <p14:creationId xmlns:p14="http://schemas.microsoft.com/office/powerpoint/2010/main" val="19703803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084AC-1150-20D4-3D29-5164D82C97B2}"/>
              </a:ext>
            </a:extLst>
          </p:cNvPr>
          <p:cNvSpPr>
            <a:spLocks noGrp="1"/>
          </p:cNvSpPr>
          <p:nvPr>
            <p:ph type="title"/>
          </p:nvPr>
        </p:nvSpPr>
        <p:spPr/>
        <p:txBody>
          <a:bodyPr/>
          <a:lstStyle/>
          <a:p>
            <a:r>
              <a:rPr lang="en-US" dirty="0"/>
              <a:t>IPO Strategy</a:t>
            </a:r>
          </a:p>
        </p:txBody>
      </p:sp>
      <p:sp>
        <p:nvSpPr>
          <p:cNvPr id="3" name="Content Placeholder 2">
            <a:extLst>
              <a:ext uri="{FF2B5EF4-FFF2-40B4-BE49-F238E27FC236}">
                <a16:creationId xmlns:a16="http://schemas.microsoft.com/office/drawing/2014/main" id="{DDC3C967-4A31-7089-983A-0F063AC948D1}"/>
              </a:ext>
            </a:extLst>
          </p:cNvPr>
          <p:cNvSpPr>
            <a:spLocks noGrp="1"/>
          </p:cNvSpPr>
          <p:nvPr>
            <p:ph idx="1"/>
          </p:nvPr>
        </p:nvSpPr>
        <p:spPr/>
        <p:txBody>
          <a:bodyPr>
            <a:normAutofit fontScale="92500" lnSpcReduction="20000"/>
          </a:bodyPr>
          <a:lstStyle/>
          <a:p>
            <a:r>
              <a:rPr lang="en-US" dirty="0"/>
              <a:t>Current strategy = “</a:t>
            </a:r>
            <a:r>
              <a:rPr lang="en-US" dirty="0" err="1"/>
              <a:t>IPO_Strategy</a:t>
            </a:r>
            <a:r>
              <a:rPr lang="en-US" dirty="0"/>
              <a:t>”:</a:t>
            </a:r>
          </a:p>
          <a:p>
            <a:pPr lvl="1"/>
            <a:r>
              <a:rPr lang="en-US" dirty="0"/>
              <a:t>Scrapes webpage for new companies that have an upcoming IPO. </a:t>
            </a:r>
          </a:p>
          <a:p>
            <a:pPr lvl="1"/>
            <a:r>
              <a:rPr lang="en-US" dirty="0"/>
              <a:t>Once a new symbol is detected, that symbol is added to </a:t>
            </a:r>
            <a:r>
              <a:rPr lang="en-US" dirty="0" err="1"/>
              <a:t>DataService’s</a:t>
            </a:r>
            <a:r>
              <a:rPr lang="en-US" dirty="0"/>
              <a:t> symbol universe and daily OHLCV data starts being stored. </a:t>
            </a:r>
          </a:p>
          <a:p>
            <a:pPr lvl="1"/>
            <a:r>
              <a:rPr lang="en-US" dirty="0"/>
              <a:t>The symbol is also added the </a:t>
            </a:r>
            <a:r>
              <a:rPr lang="en-US" dirty="0" err="1"/>
              <a:t>the</a:t>
            </a:r>
            <a:r>
              <a:rPr lang="en-US" dirty="0"/>
              <a:t> </a:t>
            </a:r>
            <a:r>
              <a:rPr lang="en-US" dirty="0" err="1"/>
              <a:t>IPO_Service’s</a:t>
            </a:r>
            <a:r>
              <a:rPr lang="en-US" dirty="0"/>
              <a:t> </a:t>
            </a:r>
            <a:r>
              <a:rPr lang="en-US" dirty="0" err="1"/>
              <a:t>IPOEvent</a:t>
            </a:r>
            <a:r>
              <a:rPr lang="en-US" dirty="0"/>
              <a:t> table. </a:t>
            </a:r>
          </a:p>
          <a:p>
            <a:pPr lvl="1"/>
            <a:r>
              <a:rPr lang="en-US" dirty="0"/>
              <a:t>The strategy monitors time and waits until the IPO day is reached.</a:t>
            </a:r>
          </a:p>
          <a:p>
            <a:pPr lvl="1"/>
            <a:r>
              <a:rPr lang="en-US" dirty="0"/>
              <a:t>On the day of the Symbol’s IPO, the strategy saves off the max(</a:t>
            </a:r>
            <a:r>
              <a:rPr lang="en-US" dirty="0" err="1"/>
              <a:t>open_price,close_price</a:t>
            </a:r>
            <a:r>
              <a:rPr lang="en-US" dirty="0"/>
              <a:t>). </a:t>
            </a:r>
          </a:p>
          <a:p>
            <a:pPr lvl="1"/>
            <a:r>
              <a:rPr lang="en-US" dirty="0"/>
              <a:t>A buy signal is generated from the strategy after the first day the </a:t>
            </a:r>
            <a:r>
              <a:rPr lang="en-US" dirty="0" err="1"/>
              <a:t>the</a:t>
            </a:r>
            <a:r>
              <a:rPr lang="en-US" dirty="0"/>
              <a:t> symbol closes over the previous high price.</a:t>
            </a:r>
          </a:p>
          <a:p>
            <a:pPr lvl="1"/>
            <a:r>
              <a:rPr lang="en-US" dirty="0"/>
              <a:t>The take profit is set at 20% above buy price, stop loss is set 10% below buy price.</a:t>
            </a:r>
          </a:p>
          <a:p>
            <a:pPr lvl="1"/>
            <a:r>
              <a:rPr lang="en-US" dirty="0"/>
              <a:t>The IPO Strategy service streams intraday data from the Market Data Service and initiates a sell order when either of these prices are hit</a:t>
            </a:r>
          </a:p>
        </p:txBody>
      </p:sp>
    </p:spTree>
    <p:extLst>
      <p:ext uri="{BB962C8B-B14F-4D97-AF65-F5344CB8AC3E}">
        <p14:creationId xmlns:p14="http://schemas.microsoft.com/office/powerpoint/2010/main" val="22247218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0C385-061B-DFF4-22BA-1E99B25FEA0F}"/>
              </a:ext>
            </a:extLst>
          </p:cNvPr>
          <p:cNvSpPr>
            <a:spLocks noGrp="1"/>
          </p:cNvSpPr>
          <p:nvPr>
            <p:ph type="title"/>
          </p:nvPr>
        </p:nvSpPr>
        <p:spPr/>
        <p:txBody>
          <a:bodyPr/>
          <a:lstStyle/>
          <a:p>
            <a:r>
              <a:rPr lang="en-US" dirty="0"/>
              <a:t>Portfolio Service</a:t>
            </a:r>
          </a:p>
        </p:txBody>
      </p:sp>
      <p:sp>
        <p:nvSpPr>
          <p:cNvPr id="3" name="Content Placeholder 2">
            <a:extLst>
              <a:ext uri="{FF2B5EF4-FFF2-40B4-BE49-F238E27FC236}">
                <a16:creationId xmlns:a16="http://schemas.microsoft.com/office/drawing/2014/main" id="{1B86A073-9C9F-E90E-2B6F-1F5DF496956E}"/>
              </a:ext>
            </a:extLst>
          </p:cNvPr>
          <p:cNvSpPr>
            <a:spLocks noGrp="1"/>
          </p:cNvSpPr>
          <p:nvPr>
            <p:ph idx="1"/>
          </p:nvPr>
        </p:nvSpPr>
        <p:spPr/>
        <p:txBody>
          <a:bodyPr>
            <a:normAutofit/>
          </a:bodyPr>
          <a:lstStyle/>
          <a:p>
            <a:r>
              <a:rPr lang="en-US" dirty="0"/>
              <a:t>Responsibilities:</a:t>
            </a:r>
          </a:p>
          <a:p>
            <a:pPr lvl="1"/>
            <a:r>
              <a:rPr lang="en-US" dirty="0"/>
              <a:t>Maintain current positions, cash, and </a:t>
            </a:r>
            <a:r>
              <a:rPr lang="en-US" dirty="0" err="1"/>
              <a:t>PnL</a:t>
            </a:r>
            <a:endParaRPr lang="en-US" dirty="0"/>
          </a:p>
          <a:p>
            <a:pPr lvl="1"/>
            <a:r>
              <a:rPr lang="en-US" dirty="0"/>
              <a:t>Track fills/trades (from execution service)</a:t>
            </a:r>
          </a:p>
          <a:p>
            <a:pPr lvl="1"/>
            <a:r>
              <a:rPr lang="en-US" dirty="0"/>
              <a:t>Expose:</a:t>
            </a:r>
          </a:p>
          <a:p>
            <a:pPr lvl="2"/>
            <a:r>
              <a:rPr lang="en-US" dirty="0"/>
              <a:t>GET /portfolio</a:t>
            </a:r>
          </a:p>
          <a:p>
            <a:pPr lvl="2"/>
            <a:r>
              <a:rPr lang="en-US" dirty="0"/>
              <a:t>POST /rebalance (given target weights)</a:t>
            </a:r>
          </a:p>
        </p:txBody>
      </p:sp>
    </p:spTree>
    <p:extLst>
      <p:ext uri="{BB962C8B-B14F-4D97-AF65-F5344CB8AC3E}">
        <p14:creationId xmlns:p14="http://schemas.microsoft.com/office/powerpoint/2010/main" val="3770624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1E9AB-CEFC-8065-3552-3C2A0F23920F}"/>
              </a:ext>
            </a:extLst>
          </p:cNvPr>
          <p:cNvSpPr>
            <a:spLocks noGrp="1"/>
          </p:cNvSpPr>
          <p:nvPr>
            <p:ph type="title"/>
          </p:nvPr>
        </p:nvSpPr>
        <p:spPr/>
        <p:txBody>
          <a:bodyPr/>
          <a:lstStyle/>
          <a:p>
            <a:r>
              <a:rPr lang="en-US" dirty="0"/>
              <a:t>Risk Service – Not yet implemented</a:t>
            </a:r>
          </a:p>
        </p:txBody>
      </p:sp>
      <p:sp>
        <p:nvSpPr>
          <p:cNvPr id="3" name="Content Placeholder 2">
            <a:extLst>
              <a:ext uri="{FF2B5EF4-FFF2-40B4-BE49-F238E27FC236}">
                <a16:creationId xmlns:a16="http://schemas.microsoft.com/office/drawing/2014/main" id="{F77B2BBE-26E9-1355-EF06-D132B5A746E1}"/>
              </a:ext>
            </a:extLst>
          </p:cNvPr>
          <p:cNvSpPr>
            <a:spLocks noGrp="1"/>
          </p:cNvSpPr>
          <p:nvPr>
            <p:ph idx="1"/>
          </p:nvPr>
        </p:nvSpPr>
        <p:spPr/>
        <p:txBody>
          <a:bodyPr>
            <a:normAutofit/>
          </a:bodyPr>
          <a:lstStyle/>
          <a:p>
            <a:r>
              <a:rPr lang="en-US" dirty="0"/>
              <a:t>Responsibilities:</a:t>
            </a:r>
          </a:p>
          <a:p>
            <a:pPr lvl="1"/>
            <a:r>
              <a:rPr lang="en-US" dirty="0"/>
              <a:t>Compute:</a:t>
            </a:r>
          </a:p>
          <a:p>
            <a:pPr lvl="1"/>
            <a:r>
              <a:rPr lang="en-US" dirty="0"/>
              <a:t>Volatility, drawdown, exposure by asset/sector, leverage, etc.</a:t>
            </a:r>
          </a:p>
          <a:p>
            <a:pPr lvl="1"/>
            <a:r>
              <a:rPr lang="en-US" dirty="0"/>
              <a:t>Enforce constraints:</a:t>
            </a:r>
          </a:p>
          <a:p>
            <a:pPr lvl="1"/>
            <a:r>
              <a:rPr lang="en-US" dirty="0"/>
              <a:t>Block/reduce orders that violate risk rules</a:t>
            </a:r>
          </a:p>
          <a:p>
            <a:pPr lvl="1"/>
            <a:r>
              <a:rPr lang="en-US" dirty="0"/>
              <a:t>Expose:</a:t>
            </a:r>
          </a:p>
          <a:p>
            <a:pPr lvl="2"/>
            <a:r>
              <a:rPr lang="en-US" dirty="0"/>
              <a:t>POST /check-orders (returns approved/trimmed orders + warnings)</a:t>
            </a:r>
          </a:p>
          <a:p>
            <a:pPr lvl="2"/>
            <a:r>
              <a:rPr lang="en-US" dirty="0"/>
              <a:t>GET /risk-metrics</a:t>
            </a:r>
          </a:p>
        </p:txBody>
      </p:sp>
    </p:spTree>
    <p:extLst>
      <p:ext uri="{BB962C8B-B14F-4D97-AF65-F5344CB8AC3E}">
        <p14:creationId xmlns:p14="http://schemas.microsoft.com/office/powerpoint/2010/main" val="4231797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91D1D-6992-B032-23B2-41A7A13C4C4F}"/>
              </a:ext>
            </a:extLst>
          </p:cNvPr>
          <p:cNvSpPr>
            <a:spLocks noGrp="1"/>
          </p:cNvSpPr>
          <p:nvPr>
            <p:ph type="title"/>
          </p:nvPr>
        </p:nvSpPr>
        <p:spPr/>
        <p:txBody>
          <a:bodyPr/>
          <a:lstStyle/>
          <a:p>
            <a:r>
              <a:rPr lang="en-US" dirty="0"/>
              <a:t>Execution Service</a:t>
            </a:r>
          </a:p>
        </p:txBody>
      </p:sp>
      <p:sp>
        <p:nvSpPr>
          <p:cNvPr id="3" name="Content Placeholder 2">
            <a:extLst>
              <a:ext uri="{FF2B5EF4-FFF2-40B4-BE49-F238E27FC236}">
                <a16:creationId xmlns:a16="http://schemas.microsoft.com/office/drawing/2014/main" id="{D855AE09-8A09-72AC-4D28-6B264E61F5AA}"/>
              </a:ext>
            </a:extLst>
          </p:cNvPr>
          <p:cNvSpPr>
            <a:spLocks noGrp="1"/>
          </p:cNvSpPr>
          <p:nvPr>
            <p:ph idx="1"/>
          </p:nvPr>
        </p:nvSpPr>
        <p:spPr/>
        <p:txBody>
          <a:bodyPr>
            <a:normAutofit fontScale="92500"/>
          </a:bodyPr>
          <a:lstStyle/>
          <a:p>
            <a:r>
              <a:rPr lang="en-US" dirty="0"/>
              <a:t>Responsibilities:</a:t>
            </a:r>
          </a:p>
          <a:p>
            <a:pPr lvl="1"/>
            <a:r>
              <a:rPr lang="en-US" dirty="0"/>
              <a:t>Take orders from portfolio service (after risk check)</a:t>
            </a:r>
          </a:p>
          <a:p>
            <a:pPr lvl="1"/>
            <a:r>
              <a:rPr lang="en-US" dirty="0"/>
              <a:t>In v1: simulate fills using last/close price</a:t>
            </a:r>
          </a:p>
          <a:p>
            <a:pPr lvl="1"/>
            <a:r>
              <a:rPr lang="en-US" dirty="0"/>
              <a:t>Optionally: integrate a paper trading API later (Alpaca, Interactive Brokers, etc.)</a:t>
            </a:r>
          </a:p>
          <a:p>
            <a:pPr lvl="1"/>
            <a:r>
              <a:rPr lang="en-US" dirty="0"/>
              <a:t>Maintain trade history table</a:t>
            </a:r>
          </a:p>
          <a:p>
            <a:pPr lvl="1"/>
            <a:r>
              <a:rPr lang="en-US" dirty="0"/>
              <a:t>Monitor synchronicity with portfolio service. </a:t>
            </a:r>
          </a:p>
          <a:p>
            <a:pPr lvl="2"/>
            <a:r>
              <a:rPr lang="en-US" dirty="0"/>
              <a:t>If Execution service cannot properly update portfolio service, trade execution for buy orders is blocked until the portfolio is rebuilt using the execution service’s trade history</a:t>
            </a:r>
          </a:p>
          <a:p>
            <a:pPr lvl="2"/>
            <a:r>
              <a:rPr lang="en-US" dirty="0"/>
              <a:t>Prevents further decoupling and undesired signal generation / portfolio rebalancing</a:t>
            </a:r>
          </a:p>
          <a:p>
            <a:pPr lvl="1"/>
            <a:r>
              <a:rPr lang="en-US" dirty="0"/>
              <a:t>Expose:</a:t>
            </a:r>
          </a:p>
          <a:p>
            <a:pPr lvl="2"/>
            <a:r>
              <a:rPr lang="en-US" dirty="0"/>
              <a:t>POST /execute-orders</a:t>
            </a:r>
          </a:p>
          <a:p>
            <a:pPr lvl="2"/>
            <a:r>
              <a:rPr lang="en-US" dirty="0"/>
              <a:t>GET /orders, GET /trades</a:t>
            </a:r>
          </a:p>
        </p:txBody>
      </p:sp>
    </p:spTree>
    <p:extLst>
      <p:ext uri="{BB962C8B-B14F-4D97-AF65-F5344CB8AC3E}">
        <p14:creationId xmlns:p14="http://schemas.microsoft.com/office/powerpoint/2010/main" val="1836074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5B081-EDEE-EC7D-4F43-7287AF508D6E}"/>
              </a:ext>
            </a:extLst>
          </p:cNvPr>
          <p:cNvSpPr>
            <a:spLocks noGrp="1"/>
          </p:cNvSpPr>
          <p:nvPr>
            <p:ph type="title"/>
          </p:nvPr>
        </p:nvSpPr>
        <p:spPr/>
        <p:txBody>
          <a:bodyPr/>
          <a:lstStyle/>
          <a:p>
            <a:r>
              <a:rPr lang="en-US" dirty="0"/>
              <a:t>Dashboard – Not yet Implemented</a:t>
            </a:r>
          </a:p>
        </p:txBody>
      </p:sp>
      <p:sp>
        <p:nvSpPr>
          <p:cNvPr id="3" name="Content Placeholder 2">
            <a:extLst>
              <a:ext uri="{FF2B5EF4-FFF2-40B4-BE49-F238E27FC236}">
                <a16:creationId xmlns:a16="http://schemas.microsoft.com/office/drawing/2014/main" id="{7696E7F5-5238-9030-D991-671A8B2CE9CD}"/>
              </a:ext>
            </a:extLst>
          </p:cNvPr>
          <p:cNvSpPr>
            <a:spLocks noGrp="1"/>
          </p:cNvSpPr>
          <p:nvPr>
            <p:ph idx="1"/>
          </p:nvPr>
        </p:nvSpPr>
        <p:spPr/>
        <p:txBody>
          <a:bodyPr/>
          <a:lstStyle/>
          <a:p>
            <a:r>
              <a:rPr lang="en-US" dirty="0"/>
              <a:t>Responsibilities:</a:t>
            </a:r>
          </a:p>
          <a:p>
            <a:pPr lvl="1"/>
            <a:r>
              <a:rPr lang="en-US" dirty="0"/>
              <a:t>Call the REST APIs of other services</a:t>
            </a:r>
          </a:p>
          <a:p>
            <a:pPr lvl="1"/>
            <a:r>
              <a:rPr lang="en-US" dirty="0"/>
              <a:t>Show:</a:t>
            </a:r>
          </a:p>
          <a:p>
            <a:pPr lvl="1"/>
            <a:r>
              <a:rPr lang="en-US" dirty="0"/>
              <a:t>Live/last </a:t>
            </a:r>
            <a:r>
              <a:rPr lang="en-US" dirty="0" err="1"/>
              <a:t>PnL</a:t>
            </a:r>
            <a:endParaRPr lang="en-US" dirty="0"/>
          </a:p>
          <a:p>
            <a:pPr lvl="1"/>
            <a:r>
              <a:rPr lang="en-US" dirty="0"/>
              <a:t>Positions and exposures</a:t>
            </a:r>
          </a:p>
          <a:p>
            <a:pPr lvl="1"/>
            <a:r>
              <a:rPr lang="en-US" dirty="0"/>
              <a:t>Risk metrics</a:t>
            </a:r>
          </a:p>
          <a:p>
            <a:pPr lvl="1"/>
            <a:r>
              <a:rPr lang="en-US" dirty="0"/>
              <a:t>Recent orders/trades</a:t>
            </a:r>
          </a:p>
        </p:txBody>
      </p:sp>
    </p:spTree>
    <p:extLst>
      <p:ext uri="{BB962C8B-B14F-4D97-AF65-F5344CB8AC3E}">
        <p14:creationId xmlns:p14="http://schemas.microsoft.com/office/powerpoint/2010/main" val="21003019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1324</TotalTime>
  <Words>1176</Words>
  <Application>Microsoft Office PowerPoint</Application>
  <PresentationFormat>Widescreen</PresentationFormat>
  <Paragraphs>133</Paragraphs>
  <Slides>13</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Automated Portfolio Management:  System Architecture</vt:lpstr>
      <vt:lpstr>Project Overview</vt:lpstr>
      <vt:lpstr>High Level Architecture: System Diagram</vt:lpstr>
      <vt:lpstr>High Level Architecture</vt:lpstr>
      <vt:lpstr>Running</vt:lpstr>
      <vt:lpstr>Example Data Service /docs</vt:lpstr>
      <vt:lpstr>Data Service</vt:lpstr>
      <vt:lpstr>Strategy Service</vt:lpstr>
      <vt:lpstr>IPO Strategy</vt:lpstr>
      <vt:lpstr>Portfolio Service</vt:lpstr>
      <vt:lpstr>Risk Service – Not yet implemented</vt:lpstr>
      <vt:lpstr>Execution Service</vt:lpstr>
      <vt:lpstr>Dashboard – Not yet Implemented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Steven Oden</dc:creator>
  <cp:lastModifiedBy>Steven Oden</cp:lastModifiedBy>
  <cp:revision>15</cp:revision>
  <dcterms:created xsi:type="dcterms:W3CDTF">2025-12-22T01:51:58Z</dcterms:created>
  <dcterms:modified xsi:type="dcterms:W3CDTF">2026-01-20T23:23:56Z</dcterms:modified>
</cp:coreProperties>
</file>