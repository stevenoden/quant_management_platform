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5" r:id="rId3"/>
    <p:sldId id="258" r:id="rId4"/>
    <p:sldId id="257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226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866825-8C01-4766-8F79-C41ECFD9525D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38C5B-EE31-4EFC-BE39-0EEC656BD8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272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238C5B-EE31-4EFC-BE39-0EEC656BD8F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278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B0A5C-FA54-3FDD-47E2-6CC2460752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294B50-5B51-7CB8-2D2B-A54FE8D95D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552D2-3AA6-8B39-4050-A7A711B1D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6D201-3712-4708-B8BD-34638CB62F4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EA4038-034E-76D1-D6DB-3AFAFA6BF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429F7-A967-D78C-8BEB-5F597AF02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AB20E-5458-4739-9F32-9A78950F16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555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8A0B-C2E2-6A89-AF1E-17BD3E998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4FF6C-4443-EA1E-B18B-5B5436B221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96420E-3705-9532-A8D7-E4D04C3F5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6D201-3712-4708-B8BD-34638CB62F4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FD6E9-E100-BF39-E45D-9061A9D7C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74246-6216-B55E-7844-7794DC63B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AB20E-5458-4739-9F32-9A78950F16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029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1764C-E2E3-17FA-904C-470171812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5719C8-C3E6-DEA0-D85E-8CBEBE120E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3E65E-883B-984B-F93E-DCC150022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6D201-3712-4708-B8BD-34638CB62F4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8E201-1144-7821-F5D5-D0DDA41B8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DF362-DFA9-7713-9351-8A39276FE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AB20E-5458-4739-9F32-9A78950F16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76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B7A8B-0689-843F-97CA-BF86482FB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6D24C-BC4A-64AA-1C44-0BC4E6C9DA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C06332-62A9-027C-DF48-36AE1BF13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5FFA47-3C54-686A-DB7C-81B2625CE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6D201-3712-4708-B8BD-34638CB62F4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0318A1-3B71-0224-A78A-0126803C3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6DDA2F-0266-18BF-282F-3A2573C5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AB20E-5458-4739-9F32-9A78950F16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525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1B609-DF7F-3928-9CC4-337FDF83A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9F2F61-6627-3940-5A58-229BCD4BFD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24EAC0-4AC8-180E-47E2-C479BD019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13E5B-DF85-4D3B-F6B7-319949E63E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ED72E1-327D-3468-6819-E0C96AB98D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DF76EE-74A1-E574-BE87-C58D930FD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6D201-3712-4708-B8BD-34638CB62F4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F5B697-7A3F-D73A-C50C-C5CF593BA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488625-AC34-D6C6-FF55-5FA95281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AB20E-5458-4739-9F32-9A78950F16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692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128EE-32DF-E240-5009-82A63BF93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A0A05C-F19A-CFFD-6ED5-210D90DBA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6D201-3712-4708-B8BD-34638CB62F4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121177-4B45-559A-1B14-34BB234F4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0A1C36-8134-B07C-2EE6-00210C96B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AB20E-5458-4739-9F32-9A78950F16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2149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5B55A6-F5BB-2AFD-FEE4-7E63CD623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6D201-3712-4708-B8BD-34638CB62F4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860BB7-4A94-9270-E603-AAB339938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62613-E124-C70E-0A17-34BAFC3FB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AB20E-5458-4739-9F32-9A78950F16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3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BB74D-5EFA-D841-CDF4-457C4C310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BAA08-1B6A-2932-B083-B34045F5F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EB13BE-FC86-5CFC-5046-B3FCCDDF9A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88D3A3-07B6-3005-9A77-6E22CD566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6D201-3712-4708-B8BD-34638CB62F4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CE213-4166-2BBE-8713-F092EBC59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96E3EB-8AFC-F7BD-614F-1671EC0C6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AB20E-5458-4739-9F32-9A78950F16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891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5848C-7C6B-A291-8357-024A01411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E9331B-9BB1-2219-2CCB-3160B4113B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8C4692-19F5-BBBD-0628-3754F04F9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1627A-68EE-82BB-5C85-6FEDA9CC4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6D201-3712-4708-B8BD-34638CB62F4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097695-EF40-B4A1-2C75-DA62269F8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ED23AB-AA85-10CD-C6DA-6FA0BB008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AB20E-5458-4739-9F32-9A78950F16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69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66530-99B8-95D4-9F25-674B27073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70C56-437D-898E-61E6-20C9545AD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DFE5D8-22FF-D3E9-627F-71FD27591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6D201-3712-4708-B8BD-34638CB62F4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D55D2-394B-E0F0-4EC4-4995F1EC8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B80DC-629E-CBDD-E309-3BF2CDCA5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AB20E-5458-4739-9F32-9A78950F16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6408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B6DBAE-99C8-9CF4-73A6-8F24B9021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D1D136-E534-8579-E105-FC330D9E21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47254-0BBE-E83F-CC7E-A0D61EF05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6D201-3712-4708-B8BD-34638CB62F4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BCB7A7-EF46-B49A-DAD5-4F84DB55D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0AAD0-D15A-1872-C89D-7165223B1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AB20E-5458-4739-9F32-9A78950F16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687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9CE1C3-ED46-CAAE-62A8-FBA00D4F4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D4C13C-BC92-3B2D-FDF0-18D237C85D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1036B-C881-EF7A-B8B1-496DDA93D9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D6D201-3712-4708-B8BD-34638CB62F40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D9D2F-A876-84A6-B42D-FD3E6DC1F4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FDCA1-7F40-DBC9-DC0D-B2ADCC8AD3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9AB20E-5458-4739-9F32-9A78950F16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614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4F38-E2F4-45D1-B4AB-F7E5E16735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Automated Portfolio Management: </a:t>
            </a:r>
            <a:br>
              <a:rPr lang="en-US" dirty="0"/>
            </a:br>
            <a:r>
              <a:rPr lang="en-US" dirty="0"/>
              <a:t>System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AA0F-4C9F-9E2B-0DCB-7AA7DDA61F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full-stack quantitative trading infrastructure project</a:t>
            </a:r>
          </a:p>
          <a:p>
            <a:endParaRPr lang="en-US" dirty="0"/>
          </a:p>
          <a:p>
            <a:r>
              <a:rPr lang="en-US" dirty="0"/>
              <a:t>By: Steven Oden</a:t>
            </a:r>
          </a:p>
        </p:txBody>
      </p:sp>
    </p:spTree>
    <p:extLst>
      <p:ext uri="{BB962C8B-B14F-4D97-AF65-F5344CB8AC3E}">
        <p14:creationId xmlns:p14="http://schemas.microsoft.com/office/powerpoint/2010/main" val="965774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CBE34-F12C-EC88-D661-54A2DFB86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661D8-A760-F221-AC12-084F46E69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421" y="1592717"/>
            <a:ext cx="829463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sz="2400" b="1" dirty="0"/>
              <a:t>Purpose: </a:t>
            </a:r>
          </a:p>
          <a:p>
            <a:pPr lvl="1"/>
            <a:r>
              <a:rPr lang="en-US" sz="2000" dirty="0"/>
              <a:t>A standalone modular, Python-based trading system that ingests market data, generates trading signals through tested strategies, manages a portfolio, enforces risk constraints and simulates trade execution</a:t>
            </a:r>
          </a:p>
          <a:p>
            <a:pPr lvl="1"/>
            <a:r>
              <a:rPr lang="en-US" sz="2000" dirty="0"/>
              <a:t>Designed to mirror the architecture used by quantitative hedge funds and trading firms</a:t>
            </a:r>
          </a:p>
          <a:p>
            <a:r>
              <a:rPr lang="en-US" sz="2400" b="1" dirty="0"/>
              <a:t>Goals:</a:t>
            </a:r>
          </a:p>
          <a:p>
            <a:pPr marL="742950" lvl="1" indent="-285750"/>
            <a:r>
              <a:rPr lang="en-US" sz="2000" dirty="0"/>
              <a:t>Demonstrate my ability to design and build distributed systems</a:t>
            </a:r>
          </a:p>
          <a:p>
            <a:pPr marL="742950" lvl="1" indent="-285750"/>
            <a:r>
              <a:rPr lang="en-US" sz="2000" dirty="0"/>
              <a:t>Show practical experience with REST APIs, microservices and data pipelines</a:t>
            </a:r>
          </a:p>
          <a:p>
            <a:pPr marL="742950" lvl="1" indent="-285750"/>
            <a:r>
              <a:rPr lang="en-US" sz="2000" dirty="0"/>
              <a:t>Build quantitative finance skills and experience: Strategy design, risk management, execution and portfolio management</a:t>
            </a:r>
          </a:p>
          <a:p>
            <a:pPr marL="742950" lvl="1" indent="-285750"/>
            <a:r>
              <a:rPr lang="en-US" sz="2000" dirty="0"/>
              <a:t>Provides a realistic example of production-style trading infrastructure</a:t>
            </a:r>
          </a:p>
          <a:p>
            <a:pPr marL="742950" lvl="1" indent="-285750"/>
            <a:r>
              <a:rPr lang="en-US" sz="2000" dirty="0"/>
              <a:t>Expand my knowledge and expertise in a subject that I am highly interested and passionate about, financial markets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70290D-859B-7B16-D5D7-9FE105062EAF}"/>
              </a:ext>
            </a:extLst>
          </p:cNvPr>
          <p:cNvSpPr txBox="1">
            <a:spLocks/>
          </p:cNvSpPr>
          <p:nvPr/>
        </p:nvSpPr>
        <p:spPr>
          <a:xfrm>
            <a:off x="8673051" y="1592717"/>
            <a:ext cx="3431863" cy="32316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Tech Stack</a:t>
            </a:r>
          </a:p>
          <a:p>
            <a:r>
              <a:rPr lang="en-US" sz="1900" dirty="0"/>
              <a:t>Python (Flask, </a:t>
            </a:r>
            <a:r>
              <a:rPr lang="en-US" sz="1900" dirty="0" err="1"/>
              <a:t>FastAPI</a:t>
            </a:r>
            <a:r>
              <a:rPr lang="en-US" sz="1900" dirty="0"/>
              <a:t>, pandas, NumPy)</a:t>
            </a:r>
          </a:p>
          <a:p>
            <a:r>
              <a:rPr lang="en-US" sz="1900" dirty="0"/>
              <a:t>REST APIs</a:t>
            </a:r>
          </a:p>
          <a:p>
            <a:r>
              <a:rPr lang="en-US" sz="1900" dirty="0"/>
              <a:t>Docker + </a:t>
            </a:r>
            <a:r>
              <a:rPr lang="en-US" sz="1900" dirty="0" err="1"/>
              <a:t>Kuberbetes</a:t>
            </a:r>
            <a:r>
              <a:rPr lang="en-US" sz="1900" dirty="0"/>
              <a:t> + AWS</a:t>
            </a:r>
          </a:p>
          <a:p>
            <a:r>
              <a:rPr lang="en-US" sz="1900" dirty="0"/>
              <a:t>PostgreSQL/ SQLite</a:t>
            </a:r>
          </a:p>
          <a:p>
            <a:r>
              <a:rPr lang="en-US" sz="1900" dirty="0" err="1"/>
              <a:t>Streamlit</a:t>
            </a:r>
            <a:r>
              <a:rPr lang="en-US" sz="1900" dirty="0"/>
              <a:t>/Dash</a:t>
            </a:r>
          </a:p>
          <a:p>
            <a:r>
              <a:rPr lang="en-US" sz="1900" dirty="0" err="1"/>
              <a:t>AsynchIO</a:t>
            </a:r>
            <a:r>
              <a:rPr lang="en-US" sz="1900" dirty="0"/>
              <a:t> / scheduling</a:t>
            </a:r>
          </a:p>
        </p:txBody>
      </p:sp>
    </p:spTree>
    <p:extLst>
      <p:ext uri="{BB962C8B-B14F-4D97-AF65-F5344CB8AC3E}">
        <p14:creationId xmlns:p14="http://schemas.microsoft.com/office/powerpoint/2010/main" val="11755240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F426B-171D-6065-125F-45E2C780E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Level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18F4C-470F-D520-0148-C104067E2D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Data Service – </a:t>
            </a:r>
            <a:r>
              <a:rPr lang="en-US" dirty="0"/>
              <a:t>gets cleans and serves market data</a:t>
            </a:r>
          </a:p>
          <a:p>
            <a:r>
              <a:rPr lang="en-US" b="1" dirty="0"/>
              <a:t>Strategy Service – </a:t>
            </a:r>
            <a:r>
              <a:rPr lang="en-US" dirty="0"/>
              <a:t>turns data into signals</a:t>
            </a:r>
          </a:p>
          <a:p>
            <a:r>
              <a:rPr lang="en-US" b="1" dirty="0"/>
              <a:t>Portfolio Service – </a:t>
            </a:r>
            <a:r>
              <a:rPr lang="en-US" dirty="0"/>
              <a:t>tracks positions, </a:t>
            </a:r>
            <a:r>
              <a:rPr lang="en-US" dirty="0" err="1"/>
              <a:t>PnL</a:t>
            </a:r>
            <a:r>
              <a:rPr lang="en-US" dirty="0"/>
              <a:t>, and orders</a:t>
            </a:r>
          </a:p>
          <a:p>
            <a:r>
              <a:rPr lang="en-US" b="1" dirty="0"/>
              <a:t>Risk Service </a:t>
            </a:r>
            <a:r>
              <a:rPr lang="en-US" dirty="0"/>
              <a:t>– monitors risk and enforces limits</a:t>
            </a:r>
          </a:p>
          <a:p>
            <a:r>
              <a:rPr lang="en-US" b="1" dirty="0"/>
              <a:t>Execution Service</a:t>
            </a:r>
            <a:r>
              <a:rPr lang="en-US" dirty="0"/>
              <a:t> – turns orders into trades (simulated or live)</a:t>
            </a:r>
          </a:p>
          <a:p>
            <a:r>
              <a:rPr lang="en-US" b="1" dirty="0"/>
              <a:t>Dashboard – </a:t>
            </a:r>
            <a:r>
              <a:rPr lang="en-US" dirty="0"/>
              <a:t>visualizes everything for humans</a:t>
            </a:r>
          </a:p>
          <a:p>
            <a:r>
              <a:rPr lang="en-US" b="1" i="1" dirty="0"/>
              <a:t>Correlation service –</a:t>
            </a:r>
            <a:r>
              <a:rPr lang="en-US" i="1" dirty="0"/>
              <a:t> Manages how correlated positions in portfolio are – likely part of strategy</a:t>
            </a:r>
            <a:endParaRPr lang="en-US" b="1" i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35126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05725-5914-BDF6-A6AE-2972FD1A3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Level Architecture: System Diagram</a:t>
            </a:r>
          </a:p>
        </p:txBody>
      </p: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238CD802-B7B7-43BA-31D6-742EC4533D5D}"/>
              </a:ext>
            </a:extLst>
          </p:cNvPr>
          <p:cNvSpPr/>
          <p:nvPr/>
        </p:nvSpPr>
        <p:spPr>
          <a:xfrm>
            <a:off x="1599528" y="5295447"/>
            <a:ext cx="881743" cy="1197428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Market Data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C0B16364-8C3D-5335-13FE-DCB2E185CE4B}"/>
              </a:ext>
            </a:extLst>
          </p:cNvPr>
          <p:cNvSpPr/>
          <p:nvPr/>
        </p:nvSpPr>
        <p:spPr>
          <a:xfrm>
            <a:off x="141515" y="2968266"/>
            <a:ext cx="1600200" cy="1325563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Market Data (Yahoo Finance etc.)</a:t>
            </a:r>
          </a:p>
        </p:txBody>
      </p:sp>
      <p:sp>
        <p:nvSpPr>
          <p:cNvPr id="6" name="Flowchart: Alternate Process 5">
            <a:extLst>
              <a:ext uri="{FF2B5EF4-FFF2-40B4-BE49-F238E27FC236}">
                <a16:creationId xmlns:a16="http://schemas.microsoft.com/office/drawing/2014/main" id="{0F5B98E1-2F5E-4350-F09A-17760B90F777}"/>
              </a:ext>
            </a:extLst>
          </p:cNvPr>
          <p:cNvSpPr/>
          <p:nvPr/>
        </p:nvSpPr>
        <p:spPr>
          <a:xfrm>
            <a:off x="2209799" y="2972480"/>
            <a:ext cx="1600200" cy="1325563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Service</a:t>
            </a:r>
          </a:p>
        </p:txBody>
      </p:sp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A5BD77E2-0672-7B7E-80F4-EE83187EAC5C}"/>
              </a:ext>
            </a:extLst>
          </p:cNvPr>
          <p:cNvSpPr/>
          <p:nvPr/>
        </p:nvSpPr>
        <p:spPr>
          <a:xfrm>
            <a:off x="4114792" y="2971799"/>
            <a:ext cx="1600200" cy="1325563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Strategy Service(s)</a:t>
            </a:r>
          </a:p>
        </p:txBody>
      </p:sp>
      <p:sp>
        <p:nvSpPr>
          <p:cNvPr id="19" name="Flowchart: Alternate Process 18">
            <a:extLst>
              <a:ext uri="{FF2B5EF4-FFF2-40B4-BE49-F238E27FC236}">
                <a16:creationId xmlns:a16="http://schemas.microsoft.com/office/drawing/2014/main" id="{E7588B50-B68E-7018-DB8E-167D93E00015}"/>
              </a:ext>
            </a:extLst>
          </p:cNvPr>
          <p:cNvSpPr/>
          <p:nvPr/>
        </p:nvSpPr>
        <p:spPr>
          <a:xfrm>
            <a:off x="6019785" y="2971798"/>
            <a:ext cx="1600200" cy="1325563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Portfolio Service</a:t>
            </a:r>
          </a:p>
        </p:txBody>
      </p:sp>
      <p:sp>
        <p:nvSpPr>
          <p:cNvPr id="31" name="Flowchart: Alternate Process 30">
            <a:extLst>
              <a:ext uri="{FF2B5EF4-FFF2-40B4-BE49-F238E27FC236}">
                <a16:creationId xmlns:a16="http://schemas.microsoft.com/office/drawing/2014/main" id="{2494AEBF-3AE2-2118-28C1-EBE8ADF46D53}"/>
              </a:ext>
            </a:extLst>
          </p:cNvPr>
          <p:cNvSpPr/>
          <p:nvPr/>
        </p:nvSpPr>
        <p:spPr>
          <a:xfrm>
            <a:off x="7924778" y="2971797"/>
            <a:ext cx="1600200" cy="1325563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Risk Service</a:t>
            </a:r>
          </a:p>
        </p:txBody>
      </p:sp>
      <p:sp>
        <p:nvSpPr>
          <p:cNvPr id="59" name="Flowchart: Alternate Process 58">
            <a:extLst>
              <a:ext uri="{FF2B5EF4-FFF2-40B4-BE49-F238E27FC236}">
                <a16:creationId xmlns:a16="http://schemas.microsoft.com/office/drawing/2014/main" id="{BA5436EE-55A0-18E6-9285-5BA09889B595}"/>
              </a:ext>
            </a:extLst>
          </p:cNvPr>
          <p:cNvSpPr/>
          <p:nvPr/>
        </p:nvSpPr>
        <p:spPr>
          <a:xfrm>
            <a:off x="9829771" y="2971797"/>
            <a:ext cx="1600200" cy="1325563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Execution Service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D8A12C8-CC4A-55F5-97F4-FA269EBC86DD}"/>
              </a:ext>
            </a:extLst>
          </p:cNvPr>
          <p:cNvSpPr txBox="1"/>
          <p:nvPr/>
        </p:nvSpPr>
        <p:spPr>
          <a:xfrm>
            <a:off x="2340428" y="2302673"/>
            <a:ext cx="13280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Here are the prices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66A8E0C-B278-2CD1-8603-707E446A58F4}"/>
              </a:ext>
            </a:extLst>
          </p:cNvPr>
          <p:cNvSpPr txBox="1"/>
          <p:nvPr/>
        </p:nvSpPr>
        <p:spPr>
          <a:xfrm>
            <a:off x="4250863" y="2302673"/>
            <a:ext cx="13280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Here are the signals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877C50-26C7-6061-6EB7-29031AA28BFD}"/>
              </a:ext>
            </a:extLst>
          </p:cNvPr>
          <p:cNvSpPr txBox="1"/>
          <p:nvPr/>
        </p:nvSpPr>
        <p:spPr>
          <a:xfrm>
            <a:off x="6155856" y="2298596"/>
            <a:ext cx="13280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Here are the orders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478D5AA-2AEC-71C7-DF06-F3594964566D}"/>
              </a:ext>
            </a:extLst>
          </p:cNvPr>
          <p:cNvSpPr txBox="1"/>
          <p:nvPr/>
        </p:nvSpPr>
        <p:spPr>
          <a:xfrm>
            <a:off x="8060849" y="1771468"/>
            <a:ext cx="13280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Here are the approved orders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4B00D19-13D9-2F0C-29B6-3B567D1E3D1A}"/>
              </a:ext>
            </a:extLst>
          </p:cNvPr>
          <p:cNvSpPr txBox="1"/>
          <p:nvPr/>
        </p:nvSpPr>
        <p:spPr>
          <a:xfrm>
            <a:off x="9965842" y="2298595"/>
            <a:ext cx="13280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Here are the fills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44CAD42-73B2-34F1-96AB-FD6E9A97998A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1741715" y="3631048"/>
            <a:ext cx="468084" cy="42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442627C-686C-1F0D-D8C2-34820427DA89}"/>
              </a:ext>
            </a:extLst>
          </p:cNvPr>
          <p:cNvCxnSpPr>
            <a:stCxn id="6" idx="3"/>
            <a:endCxn id="7" idx="1"/>
          </p:cNvCxnSpPr>
          <p:nvPr/>
        </p:nvCxnSpPr>
        <p:spPr>
          <a:xfrm flipV="1">
            <a:off x="3809999" y="3634581"/>
            <a:ext cx="304793" cy="6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4FCB2F8-0046-D851-AB30-4C3551D0840F}"/>
              </a:ext>
            </a:extLst>
          </p:cNvPr>
          <p:cNvCxnSpPr>
            <a:stCxn id="7" idx="3"/>
            <a:endCxn id="19" idx="1"/>
          </p:cNvCxnSpPr>
          <p:nvPr/>
        </p:nvCxnSpPr>
        <p:spPr>
          <a:xfrm flipV="1">
            <a:off x="5714992" y="3634580"/>
            <a:ext cx="30479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B1C73CE-69A8-43A7-8BF2-6DF7AEFA023B}"/>
              </a:ext>
            </a:extLst>
          </p:cNvPr>
          <p:cNvCxnSpPr>
            <a:stCxn id="19" idx="3"/>
            <a:endCxn id="31" idx="1"/>
          </p:cNvCxnSpPr>
          <p:nvPr/>
        </p:nvCxnSpPr>
        <p:spPr>
          <a:xfrm flipV="1">
            <a:off x="7619985" y="3634579"/>
            <a:ext cx="30479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9D05BAD-D60E-9F51-37FF-1C7966EC8B4A}"/>
              </a:ext>
            </a:extLst>
          </p:cNvPr>
          <p:cNvCxnSpPr>
            <a:stCxn id="31" idx="3"/>
            <a:endCxn id="59" idx="1"/>
          </p:cNvCxnSpPr>
          <p:nvPr/>
        </p:nvCxnSpPr>
        <p:spPr>
          <a:xfrm>
            <a:off x="9524978" y="3634579"/>
            <a:ext cx="3047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87D7CAF-0BBE-F4D0-7E3B-F2CE47BD7465}"/>
              </a:ext>
            </a:extLst>
          </p:cNvPr>
          <p:cNvCxnSpPr>
            <a:cxnSpLocks/>
            <a:stCxn id="59" idx="2"/>
            <a:endCxn id="19" idx="2"/>
          </p:cNvCxnSpPr>
          <p:nvPr/>
        </p:nvCxnSpPr>
        <p:spPr>
          <a:xfrm rot="5400000">
            <a:off x="8724878" y="2392367"/>
            <a:ext cx="1" cy="3809986"/>
          </a:xfrm>
          <a:prstGeom prst="bent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Flowchart: Magnetic Disk 2">
            <a:extLst>
              <a:ext uri="{FF2B5EF4-FFF2-40B4-BE49-F238E27FC236}">
                <a16:creationId xmlns:a16="http://schemas.microsoft.com/office/drawing/2014/main" id="{FB9F28AB-D25B-1F70-CBE3-CDE2DF0A2F94}"/>
              </a:ext>
            </a:extLst>
          </p:cNvPr>
          <p:cNvSpPr/>
          <p:nvPr/>
        </p:nvSpPr>
        <p:spPr>
          <a:xfrm>
            <a:off x="2563584" y="5295447"/>
            <a:ext cx="881743" cy="1197428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Asset Universe</a:t>
            </a:r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AA02077F-8522-E2FF-FEB0-CA8EED30A369}"/>
              </a:ext>
            </a:extLst>
          </p:cNvPr>
          <p:cNvSpPr/>
          <p:nvPr/>
        </p:nvSpPr>
        <p:spPr>
          <a:xfrm>
            <a:off x="4465886" y="5295447"/>
            <a:ext cx="881743" cy="1197428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Strategy Specific Data</a:t>
            </a:r>
          </a:p>
        </p:txBody>
      </p:sp>
      <p:sp>
        <p:nvSpPr>
          <p:cNvPr id="9" name="Flowchart: Magnetic Disk 8">
            <a:extLst>
              <a:ext uri="{FF2B5EF4-FFF2-40B4-BE49-F238E27FC236}">
                <a16:creationId xmlns:a16="http://schemas.microsoft.com/office/drawing/2014/main" id="{A5268C0A-5895-6186-E026-2A6438180ED5}"/>
              </a:ext>
            </a:extLst>
          </p:cNvPr>
          <p:cNvSpPr/>
          <p:nvPr/>
        </p:nvSpPr>
        <p:spPr>
          <a:xfrm>
            <a:off x="6340946" y="5295447"/>
            <a:ext cx="881743" cy="1197428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Portfolio DB</a:t>
            </a:r>
          </a:p>
        </p:txBody>
      </p:sp>
      <p:sp>
        <p:nvSpPr>
          <p:cNvPr id="10" name="Flowchart: Magnetic Disk 9">
            <a:extLst>
              <a:ext uri="{FF2B5EF4-FFF2-40B4-BE49-F238E27FC236}">
                <a16:creationId xmlns:a16="http://schemas.microsoft.com/office/drawing/2014/main" id="{75557E9A-A2E1-3FD9-5A35-BC5960E18D9B}"/>
              </a:ext>
            </a:extLst>
          </p:cNvPr>
          <p:cNvSpPr/>
          <p:nvPr/>
        </p:nvSpPr>
        <p:spPr>
          <a:xfrm>
            <a:off x="8284005" y="5295447"/>
            <a:ext cx="881743" cy="1197428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Risk Specific Data</a:t>
            </a:r>
          </a:p>
        </p:txBody>
      </p:sp>
      <p:sp>
        <p:nvSpPr>
          <p:cNvPr id="11" name="Flowchart: Magnetic Disk 10">
            <a:extLst>
              <a:ext uri="{FF2B5EF4-FFF2-40B4-BE49-F238E27FC236}">
                <a16:creationId xmlns:a16="http://schemas.microsoft.com/office/drawing/2014/main" id="{9A3F3E1C-FFEA-7F41-6F31-B52AB35A4259}"/>
              </a:ext>
            </a:extLst>
          </p:cNvPr>
          <p:cNvSpPr/>
          <p:nvPr/>
        </p:nvSpPr>
        <p:spPr>
          <a:xfrm>
            <a:off x="9965842" y="5295447"/>
            <a:ext cx="881743" cy="1197428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Trade History</a:t>
            </a:r>
          </a:p>
        </p:txBody>
      </p:sp>
      <p:sp>
        <p:nvSpPr>
          <p:cNvPr id="12" name="Flowchart: Magnetic Disk 11">
            <a:extLst>
              <a:ext uri="{FF2B5EF4-FFF2-40B4-BE49-F238E27FC236}">
                <a16:creationId xmlns:a16="http://schemas.microsoft.com/office/drawing/2014/main" id="{2704FB8D-0193-78BC-5E43-79A73D9754CB}"/>
              </a:ext>
            </a:extLst>
          </p:cNvPr>
          <p:cNvSpPr/>
          <p:nvPr/>
        </p:nvSpPr>
        <p:spPr>
          <a:xfrm>
            <a:off x="10912928" y="5295447"/>
            <a:ext cx="881743" cy="1197428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System State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7D2DCF9-B3AB-A456-DD96-859DC9A9D426}"/>
              </a:ext>
            </a:extLst>
          </p:cNvPr>
          <p:cNvCxnSpPr>
            <a:cxnSpLocks/>
          </p:cNvCxnSpPr>
          <p:nvPr/>
        </p:nvCxnSpPr>
        <p:spPr>
          <a:xfrm>
            <a:off x="11288456" y="4291723"/>
            <a:ext cx="5443" cy="1003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B37A91-DFF0-718D-9FC3-9060E20AD506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0403467" y="4291723"/>
            <a:ext cx="3247" cy="1003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A9E60F9-8C18-4DC6-0A93-577BD0BD71CB}"/>
              </a:ext>
            </a:extLst>
          </p:cNvPr>
          <p:cNvCxnSpPr>
            <a:cxnSpLocks/>
            <a:stCxn id="31" idx="2"/>
            <a:endCxn id="10" idx="1"/>
          </p:cNvCxnSpPr>
          <p:nvPr/>
        </p:nvCxnSpPr>
        <p:spPr>
          <a:xfrm flipH="1">
            <a:off x="8724877" y="4297360"/>
            <a:ext cx="1" cy="9980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00A19D5-7812-C9AD-7AA1-5AE6177514C4}"/>
              </a:ext>
            </a:extLst>
          </p:cNvPr>
          <p:cNvCxnSpPr>
            <a:cxnSpLocks/>
          </p:cNvCxnSpPr>
          <p:nvPr/>
        </p:nvCxnSpPr>
        <p:spPr>
          <a:xfrm>
            <a:off x="6664804" y="4158343"/>
            <a:ext cx="0" cy="1137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66EFDDA-F354-B1F3-8CC8-3B7E0878B794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906757" y="4297362"/>
            <a:ext cx="8135" cy="998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5327C8A-5A62-BF56-A14B-06A145AEAE81}"/>
              </a:ext>
            </a:extLst>
          </p:cNvPr>
          <p:cNvCxnSpPr>
            <a:cxnSpLocks/>
            <a:endCxn id="6" idx="2"/>
          </p:cNvCxnSpPr>
          <p:nvPr/>
        </p:nvCxnSpPr>
        <p:spPr>
          <a:xfrm rot="10800000" flipV="1">
            <a:off x="3009899" y="4297359"/>
            <a:ext cx="1684544" cy="684"/>
          </a:xfrm>
          <a:prstGeom prst="bentConnector4">
            <a:avLst>
              <a:gd name="adj1" fmla="val 26252"/>
              <a:gd name="adj2" fmla="val 3352105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6913B19-0065-B9C4-020F-E94F52EEC1E9}"/>
              </a:ext>
            </a:extLst>
          </p:cNvPr>
          <p:cNvCxnSpPr>
            <a:cxnSpLocks/>
          </p:cNvCxnSpPr>
          <p:nvPr/>
        </p:nvCxnSpPr>
        <p:spPr>
          <a:xfrm flipH="1">
            <a:off x="2082388" y="4321519"/>
            <a:ext cx="212579" cy="9682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3BB11F8B-060F-5420-80B7-319EDAFCC0B4}"/>
              </a:ext>
            </a:extLst>
          </p:cNvPr>
          <p:cNvCxnSpPr>
            <a:cxnSpLocks/>
          </p:cNvCxnSpPr>
          <p:nvPr/>
        </p:nvCxnSpPr>
        <p:spPr>
          <a:xfrm rot="5400000" flipH="1">
            <a:off x="1870235" y="3259688"/>
            <a:ext cx="4214" cy="2068284"/>
          </a:xfrm>
          <a:prstGeom prst="bentConnector3">
            <a:avLst>
              <a:gd name="adj1" fmla="val -542477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75D397CF-66FD-A250-782F-B3FA4FD10CA7}"/>
              </a:ext>
            </a:extLst>
          </p:cNvPr>
          <p:cNvSpPr txBox="1"/>
          <p:nvPr/>
        </p:nvSpPr>
        <p:spPr>
          <a:xfrm>
            <a:off x="7390159" y="4517241"/>
            <a:ext cx="26132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Update Portfolio With Trade Data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6A9C87-BAF7-6C58-FDBB-76643FECE10B}"/>
              </a:ext>
            </a:extLst>
          </p:cNvPr>
          <p:cNvSpPr txBox="1"/>
          <p:nvPr/>
        </p:nvSpPr>
        <p:spPr>
          <a:xfrm>
            <a:off x="2602802" y="4482285"/>
            <a:ext cx="16294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Strategy Tells Data Service New Symbols to include in Universe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71EF7F-FEBC-5BC0-A889-27CED8E6FB48}"/>
              </a:ext>
            </a:extLst>
          </p:cNvPr>
          <p:cNvSpPr txBox="1"/>
          <p:nvPr/>
        </p:nvSpPr>
        <p:spPr>
          <a:xfrm>
            <a:off x="274297" y="4517241"/>
            <a:ext cx="16845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Universe Tell Fetcher which Symbols to pull data for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DC9F897-BFC0-A9EE-AAFD-BB0715D343DA}"/>
              </a:ext>
            </a:extLst>
          </p:cNvPr>
          <p:cNvCxnSpPr>
            <a:cxnSpLocks/>
          </p:cNvCxnSpPr>
          <p:nvPr/>
        </p:nvCxnSpPr>
        <p:spPr>
          <a:xfrm flipH="1">
            <a:off x="2735978" y="4306620"/>
            <a:ext cx="8135" cy="998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575CC41-C698-D441-E6FD-352DFBB1DDF6}"/>
              </a:ext>
            </a:extLst>
          </p:cNvPr>
          <p:cNvCxnSpPr>
            <a:cxnSpLocks/>
          </p:cNvCxnSpPr>
          <p:nvPr/>
        </p:nvCxnSpPr>
        <p:spPr>
          <a:xfrm>
            <a:off x="11429971" y="3426299"/>
            <a:ext cx="7620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3988A4E-3C03-04C7-C7A3-10BF3DD25BCA}"/>
              </a:ext>
            </a:extLst>
          </p:cNvPr>
          <p:cNvCxnSpPr>
            <a:cxnSpLocks/>
          </p:cNvCxnSpPr>
          <p:nvPr/>
        </p:nvCxnSpPr>
        <p:spPr>
          <a:xfrm flipH="1">
            <a:off x="11449216" y="3640900"/>
            <a:ext cx="69090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58BED4E-70EA-91ED-4F7C-F957EBC87095}"/>
              </a:ext>
            </a:extLst>
          </p:cNvPr>
          <p:cNvSpPr txBox="1"/>
          <p:nvPr/>
        </p:nvSpPr>
        <p:spPr>
          <a:xfrm>
            <a:off x="11287863" y="3094295"/>
            <a:ext cx="1046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Trade Data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733FFBE-689C-A39D-F664-201AF40F8DCE}"/>
              </a:ext>
            </a:extLst>
          </p:cNvPr>
          <p:cNvSpPr txBox="1"/>
          <p:nvPr/>
        </p:nvSpPr>
        <p:spPr>
          <a:xfrm>
            <a:off x="11287863" y="3648344"/>
            <a:ext cx="1046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Response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777B6CC-A76A-FAF8-4F50-E1CC8E4B5B67}"/>
              </a:ext>
            </a:extLst>
          </p:cNvPr>
          <p:cNvSpPr txBox="1"/>
          <p:nvPr/>
        </p:nvSpPr>
        <p:spPr>
          <a:xfrm>
            <a:off x="4237254" y="1763809"/>
            <a:ext cx="13280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Brain</a:t>
            </a:r>
            <a:endParaRPr lang="en-US" b="1" dirty="0"/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CFC72D17-0CE5-1E09-66BD-FCCDCB2FBA05}"/>
              </a:ext>
            </a:extLst>
          </p:cNvPr>
          <p:cNvSpPr/>
          <p:nvPr/>
        </p:nvSpPr>
        <p:spPr>
          <a:xfrm>
            <a:off x="4036403" y="2225474"/>
            <a:ext cx="1814652" cy="436700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5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66B3A-B224-01CD-EAAC-C99D90E8B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2343FD-2382-76DD-86D6-19574C03C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Responsibilities:</a:t>
            </a:r>
          </a:p>
          <a:p>
            <a:pPr lvl="1"/>
            <a:r>
              <a:rPr lang="en-US" dirty="0"/>
              <a:t>Fetch OHLCV data from a provider (e.g., Alpha Vantage, Yahoo, etc.)</a:t>
            </a:r>
          </a:p>
          <a:p>
            <a:pPr lvl="1"/>
            <a:r>
              <a:rPr lang="en-US" dirty="0"/>
              <a:t>Normalize and store it in your DB</a:t>
            </a:r>
          </a:p>
          <a:p>
            <a:pPr lvl="1"/>
            <a:r>
              <a:rPr lang="en-US" dirty="0"/>
              <a:t>Expose endpoints like:</a:t>
            </a:r>
          </a:p>
          <a:p>
            <a:pPr lvl="2"/>
            <a:r>
              <a:rPr lang="en-US" dirty="0"/>
              <a:t>GET /</a:t>
            </a:r>
            <a:r>
              <a:rPr lang="en-US" dirty="0" err="1"/>
              <a:t>prices?symbol</a:t>
            </a:r>
            <a:r>
              <a:rPr lang="en-US" dirty="0"/>
              <a:t>=</a:t>
            </a:r>
            <a:r>
              <a:rPr lang="en-US" dirty="0" err="1"/>
              <a:t>SPY&amp;start</a:t>
            </a:r>
            <a:r>
              <a:rPr lang="en-US" dirty="0"/>
              <a:t>=...&amp;end=...</a:t>
            </a:r>
          </a:p>
          <a:p>
            <a:pPr lvl="2"/>
            <a:r>
              <a:rPr lang="en-US" dirty="0"/>
              <a:t>POST /</a:t>
            </a:r>
            <a:r>
              <a:rPr lang="en-US" dirty="0" err="1"/>
              <a:t>refresh?symbol</a:t>
            </a:r>
            <a:r>
              <a:rPr lang="en-US" dirty="0"/>
              <a:t>=SPY (update recent data)</a:t>
            </a:r>
          </a:p>
          <a:p>
            <a:r>
              <a:rPr lang="en-US" dirty="0"/>
              <a:t>Why it matters: Everything downstream depends on clean, consistent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910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EF1CF-F981-8377-9EEC-719FFF735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Strategy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54B4C-2765-0832-B968-B371B3A6B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Responsibilities:</a:t>
            </a:r>
          </a:p>
          <a:p>
            <a:pPr lvl="1"/>
            <a:r>
              <a:rPr lang="en-US" dirty="0"/>
              <a:t>Define strategy interfaces (e.g., </a:t>
            </a:r>
            <a:r>
              <a:rPr lang="en-US" dirty="0" err="1"/>
              <a:t>generate_signals</a:t>
            </a:r>
            <a:r>
              <a:rPr lang="en-US" dirty="0"/>
              <a:t>(data))</a:t>
            </a:r>
          </a:p>
          <a:p>
            <a:pPr lvl="1"/>
            <a:r>
              <a:rPr lang="en-US" dirty="0"/>
              <a:t>Call data service to pull needed history</a:t>
            </a:r>
          </a:p>
          <a:p>
            <a:pPr lvl="1"/>
            <a:r>
              <a:rPr lang="en-US" dirty="0"/>
              <a:t>Compute signals (buy/sell/hold, target weights)</a:t>
            </a:r>
          </a:p>
          <a:p>
            <a:pPr lvl="1"/>
            <a:r>
              <a:rPr lang="en-US" dirty="0"/>
              <a:t>Expose:</a:t>
            </a:r>
          </a:p>
          <a:p>
            <a:pPr lvl="2"/>
            <a:r>
              <a:rPr lang="en-US" dirty="0"/>
              <a:t>POST /run-strategy → returns signals or target weights</a:t>
            </a:r>
          </a:p>
          <a:p>
            <a:r>
              <a:rPr lang="en-US" dirty="0"/>
              <a:t>Nice touch: Support multiple strategies via a plug-in style design.</a:t>
            </a:r>
          </a:p>
        </p:txBody>
      </p:sp>
    </p:spTree>
    <p:extLst>
      <p:ext uri="{BB962C8B-B14F-4D97-AF65-F5344CB8AC3E}">
        <p14:creationId xmlns:p14="http://schemas.microsoft.com/office/powerpoint/2010/main" val="1970380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0C385-061B-DFF4-22BA-1E99B25FE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Portfolio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86A073-9C9F-E90E-2B6F-1F5DF4969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Responsibilities:</a:t>
            </a:r>
          </a:p>
          <a:p>
            <a:pPr lvl="1"/>
            <a:r>
              <a:rPr lang="en-US" dirty="0"/>
              <a:t>Maintain current positions, cash, and </a:t>
            </a:r>
            <a:r>
              <a:rPr lang="en-US" dirty="0" err="1"/>
              <a:t>PnL</a:t>
            </a:r>
            <a:endParaRPr lang="en-US" dirty="0"/>
          </a:p>
          <a:p>
            <a:pPr lvl="1"/>
            <a:r>
              <a:rPr lang="en-US" dirty="0"/>
              <a:t>Accept signals/target weights → convert to orders</a:t>
            </a:r>
          </a:p>
          <a:p>
            <a:pPr lvl="1"/>
            <a:r>
              <a:rPr lang="en-US" dirty="0"/>
              <a:t>Track fills/trades (from execution service)</a:t>
            </a:r>
          </a:p>
          <a:p>
            <a:pPr lvl="1"/>
            <a:r>
              <a:rPr lang="en-US" dirty="0"/>
              <a:t>Expose:</a:t>
            </a:r>
          </a:p>
          <a:p>
            <a:pPr lvl="2"/>
            <a:r>
              <a:rPr lang="en-US" dirty="0"/>
              <a:t>GET /portfolio</a:t>
            </a:r>
          </a:p>
          <a:p>
            <a:pPr lvl="2"/>
            <a:r>
              <a:rPr lang="en-US" dirty="0"/>
              <a:t>POST /rebalance (given target weights)</a:t>
            </a:r>
          </a:p>
          <a:p>
            <a:r>
              <a:rPr lang="en-US" dirty="0"/>
              <a:t>Key concept: Separate “what we want” (signals) from “what we have” (portfolio).</a:t>
            </a:r>
          </a:p>
        </p:txBody>
      </p:sp>
    </p:spTree>
    <p:extLst>
      <p:ext uri="{BB962C8B-B14F-4D97-AF65-F5344CB8AC3E}">
        <p14:creationId xmlns:p14="http://schemas.microsoft.com/office/powerpoint/2010/main" val="377062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1E9AB-CEFC-8065-3552-3C2A0F239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B2BBE-26E9-1355-EF06-D132B5A746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Responsibilities:</a:t>
            </a:r>
          </a:p>
          <a:p>
            <a:pPr lvl="1"/>
            <a:r>
              <a:rPr lang="en-US" dirty="0"/>
              <a:t>Compute:</a:t>
            </a:r>
          </a:p>
          <a:p>
            <a:pPr lvl="1"/>
            <a:r>
              <a:rPr lang="en-US" dirty="0"/>
              <a:t>Volatility, drawdown, exposure by asset/sector, leverage, etc.</a:t>
            </a:r>
          </a:p>
          <a:p>
            <a:pPr lvl="1"/>
            <a:r>
              <a:rPr lang="en-US" dirty="0"/>
              <a:t>Enforce constraints:</a:t>
            </a:r>
          </a:p>
          <a:p>
            <a:pPr lvl="1"/>
            <a:r>
              <a:rPr lang="en-US" dirty="0"/>
              <a:t>Block/reduce orders that violate risk rules</a:t>
            </a:r>
          </a:p>
          <a:p>
            <a:pPr lvl="1"/>
            <a:r>
              <a:rPr lang="en-US" dirty="0"/>
              <a:t>Expose:</a:t>
            </a:r>
          </a:p>
          <a:p>
            <a:pPr lvl="2"/>
            <a:r>
              <a:rPr lang="en-US" dirty="0"/>
              <a:t>POST /check-orders (returns approved/trimmed orders + warnings)</a:t>
            </a:r>
          </a:p>
          <a:p>
            <a:pPr lvl="2"/>
            <a:r>
              <a:rPr lang="en-US" dirty="0"/>
              <a:t>GET /risk-metrics</a:t>
            </a:r>
          </a:p>
        </p:txBody>
      </p:sp>
    </p:spTree>
    <p:extLst>
      <p:ext uri="{BB962C8B-B14F-4D97-AF65-F5344CB8AC3E}">
        <p14:creationId xmlns:p14="http://schemas.microsoft.com/office/powerpoint/2010/main" val="4231797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1D1D-6992-B032-23B2-41A7A13C4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5AE09-8A09-72AC-4D28-6B264E6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Responsibilities:</a:t>
            </a:r>
          </a:p>
          <a:p>
            <a:pPr lvl="1"/>
            <a:r>
              <a:rPr lang="en-US" dirty="0"/>
              <a:t>Take orders from portfolio service (after risk check)</a:t>
            </a:r>
          </a:p>
          <a:p>
            <a:pPr lvl="1"/>
            <a:r>
              <a:rPr lang="en-US" dirty="0"/>
              <a:t>In v1: simulate fills using last/close price</a:t>
            </a:r>
          </a:p>
          <a:p>
            <a:pPr lvl="1"/>
            <a:r>
              <a:rPr lang="en-US" dirty="0"/>
              <a:t>Optionally: integrate a paper trading API later (Alpaca, Interactive Brokers, etc.)</a:t>
            </a:r>
          </a:p>
          <a:p>
            <a:pPr lvl="1"/>
            <a:r>
              <a:rPr lang="en-US" dirty="0"/>
              <a:t>Expose:</a:t>
            </a:r>
          </a:p>
          <a:p>
            <a:pPr lvl="2"/>
            <a:r>
              <a:rPr lang="en-US" dirty="0"/>
              <a:t>POST /execute-orders</a:t>
            </a:r>
          </a:p>
          <a:p>
            <a:pPr lvl="2"/>
            <a:r>
              <a:rPr lang="en-US" dirty="0"/>
              <a:t>GET /orders, GET /trades</a:t>
            </a:r>
          </a:p>
        </p:txBody>
      </p:sp>
    </p:spTree>
    <p:extLst>
      <p:ext uri="{BB962C8B-B14F-4D97-AF65-F5344CB8AC3E}">
        <p14:creationId xmlns:p14="http://schemas.microsoft.com/office/powerpoint/2010/main" val="1836074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5B081-EDEE-EC7D-4F43-7287AF508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96E7F5-5238-9030-D991-671A8B2CE9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Responsibilities:</a:t>
            </a:r>
          </a:p>
          <a:p>
            <a:pPr lvl="1"/>
            <a:r>
              <a:rPr lang="en-US" dirty="0"/>
              <a:t>Call the REST APIs of other services</a:t>
            </a:r>
          </a:p>
          <a:p>
            <a:pPr lvl="1"/>
            <a:r>
              <a:rPr lang="en-US" dirty="0"/>
              <a:t>Show:</a:t>
            </a:r>
          </a:p>
          <a:p>
            <a:pPr lvl="1"/>
            <a:r>
              <a:rPr lang="en-US" dirty="0"/>
              <a:t>Live/last </a:t>
            </a:r>
            <a:r>
              <a:rPr lang="en-US" dirty="0" err="1"/>
              <a:t>PnL</a:t>
            </a:r>
            <a:endParaRPr lang="en-US" dirty="0"/>
          </a:p>
          <a:p>
            <a:pPr lvl="1"/>
            <a:r>
              <a:rPr lang="en-US" dirty="0"/>
              <a:t>Positions and exposures</a:t>
            </a:r>
          </a:p>
          <a:p>
            <a:pPr lvl="1"/>
            <a:r>
              <a:rPr lang="en-US" dirty="0"/>
              <a:t>Risk metrics</a:t>
            </a:r>
          </a:p>
          <a:p>
            <a:pPr lvl="1"/>
            <a:r>
              <a:rPr lang="en-US" dirty="0"/>
              <a:t>Recent orders/trades</a:t>
            </a:r>
          </a:p>
        </p:txBody>
      </p:sp>
    </p:spTree>
    <p:extLst>
      <p:ext uri="{BB962C8B-B14F-4D97-AF65-F5344CB8AC3E}">
        <p14:creationId xmlns:p14="http://schemas.microsoft.com/office/powerpoint/2010/main" val="21003019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1273</TotalTime>
  <Words>639</Words>
  <Application>Microsoft Office PowerPoint</Application>
  <PresentationFormat>Widescreen</PresentationFormat>
  <Paragraphs>106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Automated Portfolio Management:  System Architecture</vt:lpstr>
      <vt:lpstr>Project Overview</vt:lpstr>
      <vt:lpstr>High Level Architecture</vt:lpstr>
      <vt:lpstr>High Level Architecture: System Diagram</vt:lpstr>
      <vt:lpstr>Data Service</vt:lpstr>
      <vt:lpstr>Strategy Service</vt:lpstr>
      <vt:lpstr>Portfolio Service</vt:lpstr>
      <vt:lpstr>Risk Service</vt:lpstr>
      <vt:lpstr>Execution Service</vt:lpstr>
      <vt:lpstr>Dashboard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Steven Oden</dc:creator>
  <cp:lastModifiedBy>Steven Oden</cp:lastModifiedBy>
  <cp:revision>12</cp:revision>
  <dcterms:created xsi:type="dcterms:W3CDTF">2025-12-22T01:51:58Z</dcterms:created>
  <dcterms:modified xsi:type="dcterms:W3CDTF">2025-12-30T20:26:39Z</dcterms:modified>
</cp:coreProperties>
</file>