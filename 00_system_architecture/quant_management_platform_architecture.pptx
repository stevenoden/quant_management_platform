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0A5C-FA54-3FDD-47E2-6CC246075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94B50-5B51-7CB8-2D2B-A54FE8D95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552D2-3AA6-8B39-4050-A7A711B1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4038-034E-76D1-D6DB-3AFAFA6BF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429F7-A967-D78C-8BEB-5F597AF0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5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8A0B-C2E2-6A89-AF1E-17BD3E99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FF6C-4443-EA1E-B18B-5B5436B22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6420E-3705-9532-A8D7-E4D04C3F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FD6E9-E100-BF39-E45D-9061A9D7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74246-6216-B55E-7844-7794DC63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2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764C-E2E3-17FA-904C-47017181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719C8-C3E6-DEA0-D85E-8CBEBE120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3E65E-883B-984B-F93E-DCC15002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8E201-1144-7821-F5D5-D0DDA41B8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DF362-DFA9-7713-9351-8A39276F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7A8B-0689-843F-97CA-BF86482F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D24C-BC4A-64AA-1C44-0BC4E6C9D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06332-62A9-027C-DF48-36AE1BF13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FFA47-3C54-686A-DB7C-81B2625C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318A1-3B71-0224-A78A-0126803C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DDA2F-0266-18BF-282F-3A2573C5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25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B609-DF7F-3928-9CC4-337FDF83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F2F61-6627-3940-5A58-229BCD4BF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4EAC0-4AC8-180E-47E2-C479BD019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13E5B-DF85-4D3B-F6B7-319949E63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D72E1-327D-3468-6819-E0C96AB98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F76EE-74A1-E574-BE87-C58D930F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5B697-7A3F-D73A-C50C-C5CF593B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88625-AC34-D6C6-FF55-5FA95281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9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28EE-32DF-E240-5009-82A63BF9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0A05C-F19A-CFFD-6ED5-210D90DB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21177-4B45-559A-1B14-34BB234F4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A1C36-8134-B07C-2EE6-00210C96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1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B55A6-F5BB-2AFD-FEE4-7E63CD62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60BB7-4A94-9270-E603-AAB33993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62613-E124-C70E-0A17-34BAFC3F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3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B74D-5EFA-D841-CDF4-457C4C31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BAA08-1B6A-2932-B083-B34045F5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B13BE-FC86-5CFC-5046-B3FCCDDF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8D3A3-07B6-3005-9A77-6E22CD56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CE213-4166-2BBE-8713-F092EBC5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6E3EB-8AFC-F7BD-614F-1671EC0C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91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848C-7C6B-A291-8357-024A0141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9331B-9BB1-2219-2CCB-3160B4113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C4692-19F5-BBBD-0628-3754F04F9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1627A-68EE-82BB-5C85-6FEDA9CC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97695-EF40-B4A1-2C75-DA62269F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D23AB-AA85-10CD-C6DA-6FA0BB00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9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6530-99B8-95D4-9F25-674B2707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70C56-437D-898E-61E6-20C9545AD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FE5D8-22FF-D3E9-627F-71FD2759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D55D2-394B-E0F0-4EC4-4995F1EC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B80DC-629E-CBDD-E309-3BF2CDCA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4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DBAE-99C8-9CF4-73A6-8F24B9021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1D136-E534-8579-E105-FC330D9E2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47254-0BBE-E83F-CC7E-A0D61EF0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CB7A7-EF46-B49A-DAD5-4F84DB55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0AAD0-D15A-1872-C89D-7165223B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8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CE1C3-ED46-CAAE-62A8-FBA00D4F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4C13C-BC92-3B2D-FDF0-18D237C85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1036B-C881-EF7A-B8B1-496DDA93D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6D201-3712-4708-B8BD-34638CB62F4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D9D2F-A876-84A6-B42D-FD3E6DC1F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FDCA1-7F40-DBC9-DC0D-B2ADCC8AD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AB20E-5458-4739-9F32-9A78950F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1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4F38-E2F4-45D1-B4AB-F7E5E1673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Automated Portfolio Management: </a:t>
            </a:r>
            <a:br>
              <a:rPr lang="en-US" dirty="0"/>
            </a:br>
            <a:r>
              <a:rPr lang="en-US" dirty="0"/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7AA0F-4C9F-9E2B-0DCB-7AA7DDA61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full-stack quantitative trading infrastructure project</a:t>
            </a:r>
          </a:p>
          <a:p>
            <a:endParaRPr lang="en-US" dirty="0"/>
          </a:p>
          <a:p>
            <a:r>
              <a:rPr lang="en-US" dirty="0"/>
              <a:t>By: Steven Oden</a:t>
            </a:r>
          </a:p>
        </p:txBody>
      </p:sp>
    </p:spTree>
    <p:extLst>
      <p:ext uri="{BB962C8B-B14F-4D97-AF65-F5344CB8AC3E}">
        <p14:creationId xmlns:p14="http://schemas.microsoft.com/office/powerpoint/2010/main" val="965774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BE34-F12C-EC88-D661-54A2DFB8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61D8-A760-F221-AC12-084F46E69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421" y="1592717"/>
            <a:ext cx="829463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Purpose: </a:t>
            </a:r>
          </a:p>
          <a:p>
            <a:pPr lvl="1"/>
            <a:r>
              <a:rPr lang="en-US" sz="2000" dirty="0"/>
              <a:t>A standalone modular, Python-based trading system that ingests market data, generates trading signals through tested strategies, manages a portfolio, enforces risk constraints and simulates trade execution</a:t>
            </a:r>
          </a:p>
          <a:p>
            <a:pPr lvl="1"/>
            <a:r>
              <a:rPr lang="en-US" sz="2000" dirty="0"/>
              <a:t>Designed to mirror the architecture used by quantitative hedge funds and trading firms</a:t>
            </a:r>
          </a:p>
          <a:p>
            <a:r>
              <a:rPr lang="en-US" sz="2400" b="1" dirty="0"/>
              <a:t>Goals:</a:t>
            </a:r>
          </a:p>
          <a:p>
            <a:pPr marL="742950" lvl="1" indent="-285750"/>
            <a:r>
              <a:rPr lang="en-US" sz="2000" dirty="0"/>
              <a:t>Demonstrate my ability to design and build distributed systems</a:t>
            </a:r>
          </a:p>
          <a:p>
            <a:pPr marL="742950" lvl="1" indent="-285750"/>
            <a:r>
              <a:rPr lang="en-US" sz="2000" dirty="0"/>
              <a:t>Show practical experience with REST APIs, microservices and data pipelines</a:t>
            </a:r>
          </a:p>
          <a:p>
            <a:pPr marL="742950" lvl="1" indent="-285750"/>
            <a:r>
              <a:rPr lang="en-US" sz="2000" dirty="0"/>
              <a:t>Build quantitative finance skills and experience: Strategy design, risk management, execution and portfolio management</a:t>
            </a:r>
          </a:p>
          <a:p>
            <a:pPr marL="742950" lvl="1" indent="-285750"/>
            <a:r>
              <a:rPr lang="en-US" sz="2000" dirty="0"/>
              <a:t>Provides a realistic example of production-style trading infrastructure</a:t>
            </a:r>
          </a:p>
          <a:p>
            <a:pPr marL="742950" lvl="1" indent="-285750"/>
            <a:r>
              <a:rPr lang="en-US" sz="2000" dirty="0"/>
              <a:t>Expand my knowledge and expertise in a subject that I am highly interested and passionate about, financial markets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70290D-859B-7B16-D5D7-9FE105062EAF}"/>
              </a:ext>
            </a:extLst>
          </p:cNvPr>
          <p:cNvSpPr txBox="1">
            <a:spLocks/>
          </p:cNvSpPr>
          <p:nvPr/>
        </p:nvSpPr>
        <p:spPr>
          <a:xfrm>
            <a:off x="8673051" y="1592717"/>
            <a:ext cx="3431863" cy="3231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Tech Stack</a:t>
            </a:r>
          </a:p>
          <a:p>
            <a:r>
              <a:rPr lang="en-US" sz="1900" dirty="0"/>
              <a:t>Python (Flask, </a:t>
            </a:r>
            <a:r>
              <a:rPr lang="en-US" sz="1900" dirty="0" err="1"/>
              <a:t>FastAPI</a:t>
            </a:r>
            <a:r>
              <a:rPr lang="en-US" sz="1900" dirty="0"/>
              <a:t>, pandas, NumPy)</a:t>
            </a:r>
          </a:p>
          <a:p>
            <a:r>
              <a:rPr lang="en-US" sz="1900" dirty="0"/>
              <a:t>REST APIs</a:t>
            </a:r>
          </a:p>
          <a:p>
            <a:r>
              <a:rPr lang="en-US" sz="1900" dirty="0"/>
              <a:t>Docker + </a:t>
            </a:r>
            <a:r>
              <a:rPr lang="en-US" sz="1900" dirty="0" err="1"/>
              <a:t>Kuberbetes</a:t>
            </a:r>
            <a:r>
              <a:rPr lang="en-US" sz="1900" dirty="0"/>
              <a:t> + AWS</a:t>
            </a:r>
          </a:p>
          <a:p>
            <a:r>
              <a:rPr lang="en-US" sz="1900" dirty="0"/>
              <a:t>PostgreSQL/ SQLite</a:t>
            </a:r>
          </a:p>
          <a:p>
            <a:r>
              <a:rPr lang="en-US" sz="1900" dirty="0" err="1"/>
              <a:t>Streamlit</a:t>
            </a:r>
            <a:r>
              <a:rPr lang="en-US" sz="1900" dirty="0"/>
              <a:t>/Dash</a:t>
            </a:r>
          </a:p>
          <a:p>
            <a:r>
              <a:rPr lang="en-US" sz="1900" dirty="0" err="1"/>
              <a:t>AsynchIO</a:t>
            </a:r>
            <a:r>
              <a:rPr lang="en-US" sz="1900" dirty="0"/>
              <a:t> / scheduling</a:t>
            </a:r>
          </a:p>
        </p:txBody>
      </p:sp>
    </p:spTree>
    <p:extLst>
      <p:ext uri="{BB962C8B-B14F-4D97-AF65-F5344CB8AC3E}">
        <p14:creationId xmlns:p14="http://schemas.microsoft.com/office/powerpoint/2010/main" val="117552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426B-171D-6065-125F-45E2C780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8F4C-470F-D520-0148-C104067E2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Service – </a:t>
            </a:r>
            <a:r>
              <a:rPr lang="en-US" dirty="0"/>
              <a:t>gets cleans and serves market data</a:t>
            </a:r>
          </a:p>
          <a:p>
            <a:r>
              <a:rPr lang="en-US" b="1" dirty="0"/>
              <a:t>Strategy Service – </a:t>
            </a:r>
            <a:r>
              <a:rPr lang="en-US" dirty="0"/>
              <a:t>turns data into signals</a:t>
            </a:r>
          </a:p>
          <a:p>
            <a:r>
              <a:rPr lang="en-US" b="1" dirty="0"/>
              <a:t>Portfolio Service – </a:t>
            </a:r>
            <a:r>
              <a:rPr lang="en-US" dirty="0"/>
              <a:t>tracks positions, </a:t>
            </a:r>
            <a:r>
              <a:rPr lang="en-US" dirty="0" err="1"/>
              <a:t>PnL</a:t>
            </a:r>
            <a:r>
              <a:rPr lang="en-US" dirty="0"/>
              <a:t>, and orders</a:t>
            </a:r>
          </a:p>
          <a:p>
            <a:r>
              <a:rPr lang="en-US" b="1" dirty="0"/>
              <a:t>Risk Service </a:t>
            </a:r>
            <a:r>
              <a:rPr lang="en-US" dirty="0"/>
              <a:t>– monitors risk and enforces limits</a:t>
            </a:r>
          </a:p>
          <a:p>
            <a:r>
              <a:rPr lang="en-US" b="1" dirty="0"/>
              <a:t>Execution Service</a:t>
            </a:r>
            <a:r>
              <a:rPr lang="en-US" dirty="0"/>
              <a:t> – turns orders into trades (simulated or live)</a:t>
            </a:r>
          </a:p>
          <a:p>
            <a:r>
              <a:rPr lang="en-US" b="1" dirty="0"/>
              <a:t>Dashboard – </a:t>
            </a:r>
            <a:r>
              <a:rPr lang="en-US" dirty="0"/>
              <a:t>visualizes everything for humans</a:t>
            </a:r>
          </a:p>
          <a:p>
            <a:r>
              <a:rPr lang="en-US" b="1" i="1" dirty="0"/>
              <a:t>Correlation service –</a:t>
            </a:r>
            <a:r>
              <a:rPr lang="en-US" i="1" dirty="0"/>
              <a:t> Manages how correlated positions in portfolio are – likely part of strategy</a:t>
            </a:r>
            <a:endParaRPr lang="en-US" b="1" i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5126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5725-5914-BDF6-A6AE-2972FD1A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Architecture: System Diagram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38CD802-B7B7-43BA-31D6-742EC4533D5D}"/>
              </a:ext>
            </a:extLst>
          </p:cNvPr>
          <p:cNvSpPr/>
          <p:nvPr/>
        </p:nvSpPr>
        <p:spPr>
          <a:xfrm>
            <a:off x="5578913" y="5295447"/>
            <a:ext cx="881743" cy="11974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SQLite DB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C0B16364-8C3D-5335-13FE-DCB2E185CE4B}"/>
              </a:ext>
            </a:extLst>
          </p:cNvPr>
          <p:cNvSpPr/>
          <p:nvPr/>
        </p:nvSpPr>
        <p:spPr>
          <a:xfrm>
            <a:off x="141515" y="2874282"/>
            <a:ext cx="1600200" cy="15205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 Data (Yahoo Finance etc.)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F5B98E1-2F5E-4350-F09A-17760B90F777}"/>
              </a:ext>
            </a:extLst>
          </p:cNvPr>
          <p:cNvSpPr/>
          <p:nvPr/>
        </p:nvSpPr>
        <p:spPr>
          <a:xfrm>
            <a:off x="2209799" y="2972480"/>
            <a:ext cx="1600200" cy="13255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Service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A5BD77E2-0672-7B7E-80F4-EE83187EAC5C}"/>
              </a:ext>
            </a:extLst>
          </p:cNvPr>
          <p:cNvSpPr/>
          <p:nvPr/>
        </p:nvSpPr>
        <p:spPr>
          <a:xfrm>
            <a:off x="4114792" y="2971799"/>
            <a:ext cx="1600200" cy="13255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Strategy Service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7588B50-B68E-7018-DB8E-167D93E00015}"/>
              </a:ext>
            </a:extLst>
          </p:cNvPr>
          <p:cNvSpPr/>
          <p:nvPr/>
        </p:nvSpPr>
        <p:spPr>
          <a:xfrm>
            <a:off x="6019785" y="2971798"/>
            <a:ext cx="1600200" cy="13255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 Service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2494AEBF-3AE2-2118-28C1-EBE8ADF46D53}"/>
              </a:ext>
            </a:extLst>
          </p:cNvPr>
          <p:cNvSpPr/>
          <p:nvPr/>
        </p:nvSpPr>
        <p:spPr>
          <a:xfrm>
            <a:off x="7924778" y="2971797"/>
            <a:ext cx="1600200" cy="13255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Risk Service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BA5436EE-55A0-18E6-9285-5BA09889B595}"/>
              </a:ext>
            </a:extLst>
          </p:cNvPr>
          <p:cNvSpPr/>
          <p:nvPr/>
        </p:nvSpPr>
        <p:spPr>
          <a:xfrm>
            <a:off x="9829771" y="2971797"/>
            <a:ext cx="1600200" cy="13255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 Service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8A12C8-CC4A-55F5-97F4-FA269EBC86DD}"/>
              </a:ext>
            </a:extLst>
          </p:cNvPr>
          <p:cNvSpPr txBox="1"/>
          <p:nvPr/>
        </p:nvSpPr>
        <p:spPr>
          <a:xfrm>
            <a:off x="2340428" y="2302673"/>
            <a:ext cx="132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Here are the prices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6A8E0C-B278-2CD1-8603-707E446A58F4}"/>
              </a:ext>
            </a:extLst>
          </p:cNvPr>
          <p:cNvSpPr txBox="1"/>
          <p:nvPr/>
        </p:nvSpPr>
        <p:spPr>
          <a:xfrm>
            <a:off x="4250863" y="2302673"/>
            <a:ext cx="132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Here are the signals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877C50-26C7-6061-6EB7-29031AA28BFD}"/>
              </a:ext>
            </a:extLst>
          </p:cNvPr>
          <p:cNvSpPr txBox="1"/>
          <p:nvPr/>
        </p:nvSpPr>
        <p:spPr>
          <a:xfrm>
            <a:off x="6155856" y="2298596"/>
            <a:ext cx="132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Here are the orders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78D5AA-2AEC-71C7-DF06-F3594964566D}"/>
              </a:ext>
            </a:extLst>
          </p:cNvPr>
          <p:cNvSpPr txBox="1"/>
          <p:nvPr/>
        </p:nvSpPr>
        <p:spPr>
          <a:xfrm>
            <a:off x="8060849" y="1771468"/>
            <a:ext cx="1328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Here are the approved orders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B00D19-13D9-2F0C-29B6-3B567D1E3D1A}"/>
              </a:ext>
            </a:extLst>
          </p:cNvPr>
          <p:cNvSpPr txBox="1"/>
          <p:nvPr/>
        </p:nvSpPr>
        <p:spPr>
          <a:xfrm>
            <a:off x="9965842" y="2298595"/>
            <a:ext cx="132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Here are the fills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44CAD42-73B2-34F1-96AB-FD6E9A97998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741715" y="3634581"/>
            <a:ext cx="468084" cy="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42627C-686C-1F0D-D8C2-34820427DA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3809999" y="3634581"/>
            <a:ext cx="304793" cy="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4FCB2F8-0046-D851-AB30-4C3551D0840F}"/>
              </a:ext>
            </a:extLst>
          </p:cNvPr>
          <p:cNvCxnSpPr>
            <a:stCxn id="7" idx="3"/>
            <a:endCxn id="19" idx="1"/>
          </p:cNvCxnSpPr>
          <p:nvPr/>
        </p:nvCxnSpPr>
        <p:spPr>
          <a:xfrm flipV="1">
            <a:off x="5714992" y="3634580"/>
            <a:ext cx="3047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B1C73CE-69A8-43A7-8BF2-6DF7AEFA023B}"/>
              </a:ext>
            </a:extLst>
          </p:cNvPr>
          <p:cNvCxnSpPr>
            <a:stCxn id="19" idx="3"/>
            <a:endCxn id="31" idx="1"/>
          </p:cNvCxnSpPr>
          <p:nvPr/>
        </p:nvCxnSpPr>
        <p:spPr>
          <a:xfrm flipV="1">
            <a:off x="7619985" y="3634579"/>
            <a:ext cx="3047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9D05BAD-D60E-9F51-37FF-1C7966EC8B4A}"/>
              </a:ext>
            </a:extLst>
          </p:cNvPr>
          <p:cNvCxnSpPr>
            <a:stCxn id="31" idx="3"/>
            <a:endCxn id="59" idx="1"/>
          </p:cNvCxnSpPr>
          <p:nvPr/>
        </p:nvCxnSpPr>
        <p:spPr>
          <a:xfrm>
            <a:off x="9524978" y="3634579"/>
            <a:ext cx="30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87D7CAF-0BBE-F4D0-7E3B-F2CE47BD7465}"/>
              </a:ext>
            </a:extLst>
          </p:cNvPr>
          <p:cNvCxnSpPr>
            <a:cxnSpLocks/>
            <a:stCxn id="59" idx="2"/>
            <a:endCxn id="19" idx="2"/>
          </p:cNvCxnSpPr>
          <p:nvPr/>
        </p:nvCxnSpPr>
        <p:spPr>
          <a:xfrm rot="5400000">
            <a:off x="8724878" y="2392367"/>
            <a:ext cx="1" cy="3809986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5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66B3A-B224-01CD-EAAC-C99D90E8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43FD-2382-76DD-86D6-19574C03C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Fetch OHLCV data from a provider (e.g., Alpha Vantage, Yahoo, etc.)</a:t>
            </a:r>
          </a:p>
          <a:p>
            <a:pPr lvl="1"/>
            <a:r>
              <a:rPr lang="en-US" dirty="0"/>
              <a:t>Normalize and store it in your DB</a:t>
            </a:r>
          </a:p>
          <a:p>
            <a:pPr lvl="1"/>
            <a:r>
              <a:rPr lang="en-US" dirty="0"/>
              <a:t>Expose endpoints like:</a:t>
            </a:r>
          </a:p>
          <a:p>
            <a:pPr lvl="2"/>
            <a:r>
              <a:rPr lang="en-US" dirty="0"/>
              <a:t>GET /</a:t>
            </a:r>
            <a:r>
              <a:rPr lang="en-US" dirty="0" err="1"/>
              <a:t>prices?symbol</a:t>
            </a:r>
            <a:r>
              <a:rPr lang="en-US" dirty="0"/>
              <a:t>=</a:t>
            </a:r>
            <a:r>
              <a:rPr lang="en-US" dirty="0" err="1"/>
              <a:t>SPY&amp;start</a:t>
            </a:r>
            <a:r>
              <a:rPr lang="en-US" dirty="0"/>
              <a:t>=...&amp;end=...</a:t>
            </a:r>
          </a:p>
          <a:p>
            <a:pPr lvl="2"/>
            <a:r>
              <a:rPr lang="en-US" dirty="0"/>
              <a:t>POST /</a:t>
            </a:r>
            <a:r>
              <a:rPr lang="en-US" dirty="0" err="1"/>
              <a:t>refresh?symbol</a:t>
            </a:r>
            <a:r>
              <a:rPr lang="en-US" dirty="0"/>
              <a:t>=SPY (update recent data)</a:t>
            </a:r>
          </a:p>
          <a:p>
            <a:r>
              <a:rPr lang="en-US" dirty="0"/>
              <a:t>Why it matters: Everything downstream depends on clean, consistent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EF1CF-F981-8377-9EEC-719FFF73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54B4C-2765-0832-B968-B371B3A6B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Define strategy interfaces (e.g., </a:t>
            </a:r>
            <a:r>
              <a:rPr lang="en-US" dirty="0" err="1"/>
              <a:t>generate_signals</a:t>
            </a:r>
            <a:r>
              <a:rPr lang="en-US" dirty="0"/>
              <a:t>(data))</a:t>
            </a:r>
          </a:p>
          <a:p>
            <a:pPr lvl="1"/>
            <a:r>
              <a:rPr lang="en-US" dirty="0"/>
              <a:t>Call data service to pull needed history</a:t>
            </a:r>
          </a:p>
          <a:p>
            <a:pPr lvl="1"/>
            <a:r>
              <a:rPr lang="en-US" dirty="0"/>
              <a:t>Compute signals (buy/sell/hold, target weights)</a:t>
            </a:r>
          </a:p>
          <a:p>
            <a:pPr lvl="1"/>
            <a:r>
              <a:rPr lang="en-US" dirty="0"/>
              <a:t>Expose:</a:t>
            </a:r>
          </a:p>
          <a:p>
            <a:pPr lvl="2"/>
            <a:r>
              <a:rPr lang="en-US" dirty="0"/>
              <a:t>POST /run-strategy → returns signals or target weights</a:t>
            </a:r>
          </a:p>
          <a:p>
            <a:r>
              <a:rPr lang="en-US" dirty="0"/>
              <a:t>Nice touch: Support multiple strategies via a plug-in style design.</a:t>
            </a:r>
          </a:p>
        </p:txBody>
      </p:sp>
    </p:spTree>
    <p:extLst>
      <p:ext uri="{BB962C8B-B14F-4D97-AF65-F5344CB8AC3E}">
        <p14:creationId xmlns:p14="http://schemas.microsoft.com/office/powerpoint/2010/main" val="197038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0C385-061B-DFF4-22BA-1E99B25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A073-9C9F-E90E-2B6F-1F5DF496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Maintain current positions, cash, and </a:t>
            </a:r>
            <a:r>
              <a:rPr lang="en-US" dirty="0" err="1"/>
              <a:t>PnL</a:t>
            </a:r>
            <a:endParaRPr lang="en-US" dirty="0"/>
          </a:p>
          <a:p>
            <a:pPr lvl="1"/>
            <a:r>
              <a:rPr lang="en-US" dirty="0"/>
              <a:t>Accept signals/target weights → convert to orders</a:t>
            </a:r>
          </a:p>
          <a:p>
            <a:pPr lvl="1"/>
            <a:r>
              <a:rPr lang="en-US" dirty="0"/>
              <a:t>Track fills/trades (from execution service)</a:t>
            </a:r>
          </a:p>
          <a:p>
            <a:pPr lvl="1"/>
            <a:r>
              <a:rPr lang="en-US" dirty="0"/>
              <a:t>Expose:</a:t>
            </a:r>
          </a:p>
          <a:p>
            <a:pPr lvl="2"/>
            <a:r>
              <a:rPr lang="en-US" dirty="0"/>
              <a:t>GET /portfolio</a:t>
            </a:r>
          </a:p>
          <a:p>
            <a:pPr lvl="2"/>
            <a:r>
              <a:rPr lang="en-US" dirty="0"/>
              <a:t>POST /rebalance (given target weights)</a:t>
            </a:r>
          </a:p>
          <a:p>
            <a:r>
              <a:rPr lang="en-US" dirty="0"/>
              <a:t>Key concept: Separate “what we want” (signals) from “what we have” (portfolio).</a:t>
            </a:r>
          </a:p>
        </p:txBody>
      </p:sp>
    </p:spTree>
    <p:extLst>
      <p:ext uri="{BB962C8B-B14F-4D97-AF65-F5344CB8AC3E}">
        <p14:creationId xmlns:p14="http://schemas.microsoft.com/office/powerpoint/2010/main" val="377062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E9AB-CEFC-8065-3552-3C2A0F23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B2BBE-26E9-1355-EF06-D132B5A7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Compute:</a:t>
            </a:r>
          </a:p>
          <a:p>
            <a:pPr lvl="1"/>
            <a:r>
              <a:rPr lang="en-US" dirty="0"/>
              <a:t>Volatility, drawdown, exposure by asset/sector, leverage, etc.</a:t>
            </a:r>
          </a:p>
          <a:p>
            <a:pPr lvl="1"/>
            <a:r>
              <a:rPr lang="en-US" dirty="0"/>
              <a:t>Enforce constraints:</a:t>
            </a:r>
          </a:p>
          <a:p>
            <a:pPr lvl="1"/>
            <a:r>
              <a:rPr lang="en-US" dirty="0"/>
              <a:t>Block/reduce orders that violate risk rules</a:t>
            </a:r>
          </a:p>
          <a:p>
            <a:pPr lvl="1"/>
            <a:r>
              <a:rPr lang="en-US" dirty="0"/>
              <a:t>Expose:</a:t>
            </a:r>
          </a:p>
          <a:p>
            <a:pPr lvl="2"/>
            <a:r>
              <a:rPr lang="en-US" dirty="0"/>
              <a:t>POST /check-orders (returns approved/trimmed orders + warnings)</a:t>
            </a:r>
          </a:p>
          <a:p>
            <a:pPr lvl="2"/>
            <a:r>
              <a:rPr lang="en-US" dirty="0"/>
              <a:t>GET /risk-metrics</a:t>
            </a:r>
          </a:p>
        </p:txBody>
      </p:sp>
    </p:spTree>
    <p:extLst>
      <p:ext uri="{BB962C8B-B14F-4D97-AF65-F5344CB8AC3E}">
        <p14:creationId xmlns:p14="http://schemas.microsoft.com/office/powerpoint/2010/main" val="423179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1D1D-6992-B032-23B2-41A7A13C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5AE09-8A09-72AC-4D28-6B264E61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Take orders from portfolio service (after risk check)</a:t>
            </a:r>
          </a:p>
          <a:p>
            <a:pPr lvl="1"/>
            <a:r>
              <a:rPr lang="en-US" dirty="0"/>
              <a:t>In v1: simulate fills using last/close price</a:t>
            </a:r>
          </a:p>
          <a:p>
            <a:pPr lvl="1"/>
            <a:r>
              <a:rPr lang="en-US" dirty="0"/>
              <a:t>Optionally: integrate a paper trading API later (Alpaca, Interactive Brokers, etc.)</a:t>
            </a:r>
          </a:p>
          <a:p>
            <a:pPr lvl="1"/>
            <a:r>
              <a:rPr lang="en-US" dirty="0"/>
              <a:t>Expose:</a:t>
            </a:r>
          </a:p>
          <a:p>
            <a:pPr lvl="2"/>
            <a:r>
              <a:rPr lang="en-US" dirty="0"/>
              <a:t>POST /execute-orders</a:t>
            </a:r>
          </a:p>
          <a:p>
            <a:pPr lvl="2"/>
            <a:r>
              <a:rPr lang="en-US" dirty="0"/>
              <a:t>GET /orders, GET /trades</a:t>
            </a:r>
          </a:p>
        </p:txBody>
      </p:sp>
    </p:spTree>
    <p:extLst>
      <p:ext uri="{BB962C8B-B14F-4D97-AF65-F5344CB8AC3E}">
        <p14:creationId xmlns:p14="http://schemas.microsoft.com/office/powerpoint/2010/main" val="183607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B081-EDEE-EC7D-4F43-7287AF50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E7F5-5238-9030-D991-671A8B2CE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Call the REST APIs of other services</a:t>
            </a:r>
          </a:p>
          <a:p>
            <a:pPr lvl="1"/>
            <a:r>
              <a:rPr lang="en-US" dirty="0"/>
              <a:t>Show:</a:t>
            </a:r>
          </a:p>
          <a:p>
            <a:pPr lvl="1"/>
            <a:r>
              <a:rPr lang="en-US" dirty="0"/>
              <a:t>Live/last </a:t>
            </a:r>
            <a:r>
              <a:rPr lang="en-US" dirty="0" err="1"/>
              <a:t>PnL</a:t>
            </a:r>
            <a:endParaRPr lang="en-US" dirty="0"/>
          </a:p>
          <a:p>
            <a:pPr lvl="1"/>
            <a:r>
              <a:rPr lang="en-US" dirty="0"/>
              <a:t>Positions and exposures</a:t>
            </a:r>
          </a:p>
          <a:p>
            <a:pPr lvl="1"/>
            <a:r>
              <a:rPr lang="en-US" dirty="0"/>
              <a:t>Risk metrics</a:t>
            </a:r>
          </a:p>
          <a:p>
            <a:pPr lvl="1"/>
            <a:r>
              <a:rPr lang="en-US" dirty="0"/>
              <a:t>Recent orders/trades</a:t>
            </a:r>
          </a:p>
        </p:txBody>
      </p:sp>
    </p:spTree>
    <p:extLst>
      <p:ext uri="{BB962C8B-B14F-4D97-AF65-F5344CB8AC3E}">
        <p14:creationId xmlns:p14="http://schemas.microsoft.com/office/powerpoint/2010/main" val="2100301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593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Automated Portfolio Management:  System Architecture</vt:lpstr>
      <vt:lpstr>Project Overview</vt:lpstr>
      <vt:lpstr>High Level Architecture</vt:lpstr>
      <vt:lpstr>High Level Architecture: System Diagram</vt:lpstr>
      <vt:lpstr>Data Service</vt:lpstr>
      <vt:lpstr>Strategy Service</vt:lpstr>
      <vt:lpstr>Portfolio Service</vt:lpstr>
      <vt:lpstr>Risk Service</vt:lpstr>
      <vt:lpstr>Execution Service</vt:lpstr>
      <vt:lpstr>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Oden</dc:creator>
  <cp:lastModifiedBy>Steven Oden</cp:lastModifiedBy>
  <cp:revision>11</cp:revision>
  <dcterms:created xsi:type="dcterms:W3CDTF">2025-12-22T01:51:58Z</dcterms:created>
  <dcterms:modified xsi:type="dcterms:W3CDTF">2025-12-22T22:52:40Z</dcterms:modified>
</cp:coreProperties>
</file>